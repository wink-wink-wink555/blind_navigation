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</p:sldMasterIdLst>
  <p:notesMasterIdLst>
    <p:notesMasterId r:id="rId25"/>
  </p:notesMasterIdLst>
  <p:handoutMasterIdLst>
    <p:handoutMasterId r:id="rId26"/>
  </p:handoutMasterIdLst>
  <p:sldIdLst>
    <p:sldId id="257" r:id="rId5"/>
    <p:sldId id="258" r:id="rId6"/>
    <p:sldId id="259" r:id="rId7"/>
    <p:sldId id="260" r:id="rId8"/>
    <p:sldId id="266" r:id="rId9"/>
    <p:sldId id="263" r:id="rId10"/>
    <p:sldId id="264" r:id="rId11"/>
    <p:sldId id="268" r:id="rId12"/>
    <p:sldId id="269" r:id="rId13"/>
    <p:sldId id="277" r:id="rId14"/>
    <p:sldId id="278" r:id="rId15"/>
    <p:sldId id="276" r:id="rId16"/>
    <p:sldId id="279" r:id="rId17"/>
    <p:sldId id="274" r:id="rId18"/>
    <p:sldId id="275" r:id="rId19"/>
    <p:sldId id="265" r:id="rId20"/>
    <p:sldId id="271" r:id="rId21"/>
    <p:sldId id="262" r:id="rId22"/>
    <p:sldId id="273" r:id="rId23"/>
    <p:sldId id="261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40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29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3C3D0-B1F7-46CC-BCF9-ED7D98313126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15B58-C7C9-47C2-92FD-9602FB51B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79C40-E445-4EA1-B188-884811CE4F2E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2C533-ADB0-4433-9CFB-AE24D591F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/Users/francesliu/Desktop/工作文件/教培/开源大赛/第三届大赛/底图.jpg底图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-762" y="0"/>
            <a:ext cx="12193523" cy="6858000"/>
          </a:xfrm>
          <a:custGeom>
            <a:avLst/>
            <a:gdLst>
              <a:gd name="connsiteX0" fmla="*/ -3040 w 12193523"/>
              <a:gd name="connsiteY0" fmla="*/ -1710 h 6858000"/>
              <a:gd name="connsiteX1" fmla="*/ 12190484 w 12193523"/>
              <a:gd name="connsiteY1" fmla="*/ -1710 h 6858000"/>
              <a:gd name="connsiteX2" fmla="*/ 12190484 w 12193523"/>
              <a:gd name="connsiteY2" fmla="*/ 6856290 h 6858000"/>
              <a:gd name="connsiteX3" fmla="*/ -3040 w 12193523"/>
              <a:gd name="connsiteY3" fmla="*/ 68562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3" h="6858000">
                <a:moveTo>
                  <a:pt x="-3040" y="-1710"/>
                </a:moveTo>
                <a:lnTo>
                  <a:pt x="12190484" y="-1710"/>
                </a:lnTo>
                <a:lnTo>
                  <a:pt x="12190484" y="6856290"/>
                </a:lnTo>
                <a:lnTo>
                  <a:pt x="-3040" y="6856290"/>
                </a:lnTo>
                <a:close/>
              </a:path>
            </a:pathLst>
          </a:cu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/Users/francesliu/Desktop/工作文件/教培/开源大赛/第三届大赛/底图2.jpg底图2"/>
          <p:cNvPicPr>
            <a:picLocks noChangeAspect="1"/>
          </p:cNvPicPr>
          <p:nvPr userDrawn="1"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3523" cy="6858000"/>
          </a:xfrm>
          <a:custGeom>
            <a:avLst/>
            <a:gdLst>
              <a:gd name="connsiteX0" fmla="*/ -3040 w 12193523"/>
              <a:gd name="connsiteY0" fmla="*/ -1710 h 6858000"/>
              <a:gd name="connsiteX1" fmla="*/ 12190484 w 12193523"/>
              <a:gd name="connsiteY1" fmla="*/ -1710 h 6858000"/>
              <a:gd name="connsiteX2" fmla="*/ 12190484 w 12193523"/>
              <a:gd name="connsiteY2" fmla="*/ 6856290 h 6858000"/>
              <a:gd name="connsiteX3" fmla="*/ -3040 w 12193523"/>
              <a:gd name="connsiteY3" fmla="*/ 68562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3" h="6858000">
                <a:moveTo>
                  <a:pt x="-3040" y="-1710"/>
                </a:moveTo>
                <a:lnTo>
                  <a:pt x="12190484" y="-1710"/>
                </a:lnTo>
                <a:lnTo>
                  <a:pt x="12190484" y="6856290"/>
                </a:lnTo>
                <a:lnTo>
                  <a:pt x="-3040" y="6856290"/>
                </a:lnTo>
                <a:close/>
              </a:path>
            </a:pathLst>
          </a:cu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/Users/francesliu/Desktop/工作文件/教培/开源大赛/第三届大赛/底图2.jpg底图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3523" cy="6858000"/>
          </a:xfrm>
          <a:custGeom>
            <a:avLst/>
            <a:gdLst>
              <a:gd name="connsiteX0" fmla="*/ -3040 w 12193523"/>
              <a:gd name="connsiteY0" fmla="*/ -1710 h 6858000"/>
              <a:gd name="connsiteX1" fmla="*/ 12190484 w 12193523"/>
              <a:gd name="connsiteY1" fmla="*/ -1710 h 6858000"/>
              <a:gd name="connsiteX2" fmla="*/ 12190484 w 12193523"/>
              <a:gd name="connsiteY2" fmla="*/ 6856290 h 6858000"/>
              <a:gd name="connsiteX3" fmla="*/ -3040 w 12193523"/>
              <a:gd name="connsiteY3" fmla="*/ 68562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3" h="6858000">
                <a:moveTo>
                  <a:pt x="-3040" y="-1710"/>
                </a:moveTo>
                <a:lnTo>
                  <a:pt x="12190484" y="-1710"/>
                </a:lnTo>
                <a:lnTo>
                  <a:pt x="12190484" y="6856290"/>
                </a:lnTo>
                <a:lnTo>
                  <a:pt x="-3040" y="6856290"/>
                </a:lnTo>
                <a:close/>
              </a:path>
            </a:pathLst>
          </a:cu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 descr="/Users/francesliu/Desktop/工作文件/教培/开源大赛/第三届大赛/底图2.jpg底图2"/>
          <p:cNvPicPr>
            <a:picLocks noChangeAspect="1"/>
          </p:cNvPicPr>
          <p:nvPr userDrawn="1"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-10795" y="972820"/>
            <a:ext cx="12202160" cy="6122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github.com/wink-wink-wink555/blind_navigation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6.png"/><Relationship Id="rId2" Type="http://schemas.openxmlformats.org/officeDocument/2006/relationships/hyperlink" Target="https://github.com/wink-wink-wink555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linkedin.com/in/yifei-sun-0bab66341/" TargetMode="Externa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3775394" y="4189215"/>
            <a:ext cx="458330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微软雅黑" panose="020B0503020204020204" charset="-122"/>
                <a:rtl val="0"/>
              </a:rPr>
              <a:t>演讲人</a:t>
            </a:r>
            <a:r>
              <a:rPr lang="en-US" altLang="zh-CN" sz="26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微软雅黑" panose="020B0503020204020204" charset="-122"/>
                <a:rtl val="0"/>
              </a:rPr>
              <a:t>: </a:t>
            </a:r>
            <a:r>
              <a:rPr lang="zh-CN" altLang="en-US" sz="26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Arial" panose="020B0604020202090204"/>
                <a:rtl val="0"/>
              </a:rPr>
              <a:t>孙宜飞（</a:t>
            </a:r>
            <a:r>
              <a:rPr lang="en-US" altLang="zh-CN" sz="26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Arial" panose="020B0604020202090204"/>
                <a:rtl val="0"/>
              </a:rPr>
              <a:t>wow</a:t>
            </a:r>
            <a:r>
              <a:rPr lang="zh-CN" altLang="en-US" sz="26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Arial" panose="020B0604020202090204"/>
                <a:rtl val="0"/>
              </a:rPr>
              <a:t>！</a:t>
            </a:r>
            <a:r>
              <a:rPr lang="zh-CN" altLang="en-US" sz="2600" b="1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Arial" panose="020B0604020202090204"/>
                <a:rtl val="0"/>
              </a:rPr>
              <a:t>组</a:t>
            </a:r>
            <a:r>
              <a:rPr lang="zh-CN" altLang="en-US" sz="26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Arial" panose="020B0604020202090204"/>
                <a:rtl val="0"/>
              </a:rPr>
              <a:t>）</a:t>
            </a:r>
            <a:endParaRPr lang="en-US" altLang="zh-CN" sz="2600" b="1" dirty="0">
              <a:solidFill>
                <a:srgbClr val="FFFFFF"/>
              </a:solidFill>
              <a:latin typeface="Noto Sans SC Medium" panose="020B0200000000000000" pitchFamily="34" charset="-122"/>
              <a:ea typeface="Noto Sans SC Medium" panose="020B0200000000000000" pitchFamily="34" charset="-122"/>
              <a:cs typeface="Arial" panose="020B0604020202090204"/>
              <a:sym typeface="Arial" panose="020B0604020202090204"/>
              <a:rtl val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微软雅黑" panose="020B0503020204020204" charset="-122"/>
                <a:rtl val="0"/>
              </a:rPr>
              <a:t>时间</a:t>
            </a:r>
            <a:r>
              <a:rPr lang="en-US" altLang="zh-CN" sz="26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微软雅黑" panose="020B0503020204020204" charset="-122"/>
                <a:rtl val="0"/>
              </a:rPr>
              <a:t>: </a:t>
            </a:r>
            <a:r>
              <a:rPr lang="zh-CN" altLang="en-US" sz="2600" b="1" spc="-2539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微软雅黑" panose="020B0503020204020204" charset="-122"/>
                <a:rtl val="0"/>
              </a:rPr>
              <a:t> </a:t>
            </a:r>
            <a:r>
              <a:rPr lang="en-US" altLang="zh-CN" sz="26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Arial" panose="020B0604020202090204"/>
                <a:rtl val="0"/>
              </a:rPr>
              <a:t>2026</a:t>
            </a:r>
            <a:r>
              <a:rPr lang="zh-CN" altLang="en-US" sz="26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微软雅黑" panose="020B0503020204020204" charset="-122"/>
                <a:rtl val="0"/>
              </a:rPr>
              <a:t>年</a:t>
            </a:r>
            <a:r>
              <a:rPr lang="en-US" altLang="zh-CN" sz="2600" b="1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Arial" panose="020B0604020202090204"/>
                <a:rtl val="0"/>
              </a:rPr>
              <a:t>1</a:t>
            </a:r>
            <a:r>
              <a:rPr lang="zh-CN" altLang="en-US" sz="26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微软雅黑" panose="020B0503020204020204" charset="-122"/>
                <a:rtl val="0"/>
              </a:rPr>
              <a:t>月</a:t>
            </a:r>
            <a:r>
              <a:rPr lang="en-US" altLang="zh-CN" sz="2600" b="1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Arial" panose="020B0604020202090204"/>
                <a:rtl val="0"/>
              </a:rPr>
              <a:t>16</a:t>
            </a:r>
            <a:r>
              <a:rPr lang="zh-CN" altLang="en-US" sz="26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604020202090204"/>
                <a:sym typeface="微软雅黑" panose="020B0503020204020204" charset="-122"/>
                <a:rtl val="0"/>
              </a:rPr>
              <a:t>日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435608" y="2444115"/>
            <a:ext cx="926287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微软雅黑" panose="020B0503020204020204" charset="-122"/>
                <a:rtl val="0"/>
              </a:rPr>
              <a:t>视障人士出行辅助系统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0885" y="1364615"/>
            <a:ext cx="921385" cy="15532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4800" dirty="0">
                <a:solidFill>
                  <a:schemeClr val="bg1"/>
                </a:solidFill>
                <a:latin typeface="黑体" charset="0"/>
                <a:ea typeface="黑体" charset="0"/>
              </a:rPr>
              <a:t>目录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2063750" y="1201102"/>
            <a:ext cx="9133840" cy="4455795"/>
          </a:xfrm>
          <a:prstGeom prst="roundRect">
            <a:avLst/>
          </a:prstGeom>
          <a:solidFill>
            <a:schemeClr val="bg1">
              <a:lumMod val="95000"/>
              <a:alpha val="2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6BA0E897-B377-19AC-714A-51590D6E804E}"/>
              </a:ext>
            </a:extLst>
          </p:cNvPr>
          <p:cNvSpPr txBox="1"/>
          <p:nvPr/>
        </p:nvSpPr>
        <p:spPr>
          <a:xfrm>
            <a:off x="4300551" y="2402459"/>
            <a:ext cx="3308926" cy="1030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项目背景</a:t>
            </a:r>
            <a:endParaRPr lang="en-US" altLang="zh-CN" sz="3600" b="1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A4C3B162-8E48-904D-C0E3-D6DE119BB9A5}"/>
              </a:ext>
            </a:extLst>
          </p:cNvPr>
          <p:cNvSpPr txBox="1"/>
          <p:nvPr/>
        </p:nvSpPr>
        <p:spPr>
          <a:xfrm>
            <a:off x="6948832" y="3720148"/>
            <a:ext cx="3308926" cy="1033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项目相关</a:t>
            </a:r>
            <a:endParaRPr lang="en-US" altLang="zh-CN" sz="3600" b="1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60339541-1262-1107-701A-40EBF67650E9}"/>
              </a:ext>
            </a:extLst>
          </p:cNvPr>
          <p:cNvSpPr txBox="1"/>
          <p:nvPr/>
        </p:nvSpPr>
        <p:spPr>
          <a:xfrm>
            <a:off x="4300551" y="3730431"/>
            <a:ext cx="3308926" cy="1030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技术架构</a:t>
            </a:r>
            <a:endParaRPr lang="en-US" altLang="zh-CN" sz="3600" b="1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</p:txBody>
      </p:sp>
      <p:sp>
        <p:nvSpPr>
          <p:cNvPr id="33" name="TextBox 1">
            <a:extLst>
              <a:ext uri="{FF2B5EF4-FFF2-40B4-BE49-F238E27FC236}">
                <a16:creationId xmlns:a16="http://schemas.microsoft.com/office/drawing/2014/main" id="{A6F9C064-C580-54B6-DAA7-D88D3A806516}"/>
              </a:ext>
            </a:extLst>
          </p:cNvPr>
          <p:cNvSpPr txBox="1"/>
          <p:nvPr/>
        </p:nvSpPr>
        <p:spPr>
          <a:xfrm>
            <a:off x="6948832" y="2398269"/>
            <a:ext cx="3308926" cy="1030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现场演示</a:t>
            </a:r>
            <a:endParaRPr lang="en-US" altLang="zh-CN" sz="3600" b="1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5054DCC-5EEC-87B3-EF78-06166043B2A8}"/>
              </a:ext>
            </a:extLst>
          </p:cNvPr>
          <p:cNvSpPr txBox="1"/>
          <p:nvPr/>
        </p:nvSpPr>
        <p:spPr>
          <a:xfrm>
            <a:off x="6929342" y="2199015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02</a:t>
            </a:r>
            <a:endParaRPr lang="zh-CN" altLang="en-US" sz="2800" i="1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87A88FF-4BDE-BCC5-5CBA-DEBCF558B0C9}"/>
              </a:ext>
            </a:extLst>
          </p:cNvPr>
          <p:cNvSpPr txBox="1"/>
          <p:nvPr/>
        </p:nvSpPr>
        <p:spPr>
          <a:xfrm>
            <a:off x="4281061" y="2199015"/>
            <a:ext cx="867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01</a:t>
            </a:r>
            <a:endParaRPr lang="zh-CN" altLang="en-US" sz="2800" i="1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F680570-E5BF-79E6-BA96-EFD9856FB328}"/>
              </a:ext>
            </a:extLst>
          </p:cNvPr>
          <p:cNvSpPr txBox="1"/>
          <p:nvPr/>
        </p:nvSpPr>
        <p:spPr>
          <a:xfrm>
            <a:off x="6948832" y="3504397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04</a:t>
            </a:r>
            <a:endParaRPr lang="zh-CN" altLang="en-US" sz="2800" i="1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E2864B6-0F5D-E200-CB31-4FA61D166E49}"/>
              </a:ext>
            </a:extLst>
          </p:cNvPr>
          <p:cNvSpPr txBox="1"/>
          <p:nvPr/>
        </p:nvSpPr>
        <p:spPr>
          <a:xfrm>
            <a:off x="4281061" y="3504397"/>
            <a:ext cx="834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03</a:t>
            </a:r>
            <a:endParaRPr lang="zh-CN" altLang="en-US" sz="2800" i="1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3242241" y="2836183"/>
            <a:ext cx="5707518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100" b="1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微软雅黑" panose="020B0503020204020204" charset="-122"/>
                <a:rtl val="0"/>
              </a:rPr>
              <a:t>项目背景</a:t>
            </a:r>
            <a:endParaRPr lang="zh-CN" altLang="en-US" sz="6100" b="1" spc="0" baseline="0" dirty="0">
              <a:solidFill>
                <a:srgbClr val="FFFFFF"/>
              </a:solidFill>
              <a:latin typeface="Noto Sans SC Medium" panose="020B0200000000000000" pitchFamily="34" charset="-122"/>
              <a:ea typeface="Noto Sans SC Medium" panose="020B0200000000000000" pitchFamily="34" charset="-122"/>
              <a:sym typeface="微软雅黑" panose="020B0503020204020204" charset="-122"/>
              <a:rtl val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29067" y="3867234"/>
            <a:ext cx="5133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i="1" spc="0" baseline="0" dirty="0">
                <a:solidFill>
                  <a:srgbClr val="FFFFFF"/>
                </a:solidFill>
                <a:latin typeface="Aptos Display" panose="020B0004020202020204" pitchFamily="34" charset="0"/>
                <a:ea typeface="Noto Sans SC Medium" panose="020B0200000000000000" pitchFamily="34" charset="-122"/>
                <a:cs typeface="Arial" panose="020B0604020202090204"/>
                <a:sym typeface="Arial" panose="020B0604020202090204"/>
                <a:rtl val="0"/>
              </a:rPr>
              <a:t>Project Context</a:t>
            </a:r>
            <a:endParaRPr lang="zh-CN" altLang="en-US" sz="4400" i="1" spc="0" baseline="0" dirty="0">
              <a:solidFill>
                <a:srgbClr val="FFFFFF"/>
              </a:solidFill>
              <a:latin typeface="Aptos Display" panose="020B0004020202020204" pitchFamily="34" charset="0"/>
              <a:ea typeface="Noto Sans SC Medium" panose="020B0200000000000000" pitchFamily="34" charset="-122"/>
              <a:cs typeface="Arial" panose="020B0604020202090204"/>
              <a:sym typeface="微软雅黑" panose="020B0503020204020204" charset="-122"/>
              <a:rtl val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1">
            <a:extLst>
              <a:ext uri="{FF2B5EF4-FFF2-40B4-BE49-F238E27FC236}">
                <a16:creationId xmlns:a16="http://schemas.microsoft.com/office/drawing/2014/main" id="{29ADA559-0D52-DD1C-3337-770889104606}"/>
              </a:ext>
            </a:extLst>
          </p:cNvPr>
          <p:cNvSpPr/>
          <p:nvPr/>
        </p:nvSpPr>
        <p:spPr>
          <a:xfrm>
            <a:off x="608965" y="4796790"/>
            <a:ext cx="5487035" cy="2077164"/>
          </a:xfrm>
          <a:prstGeom prst="round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截至</a:t>
            </a:r>
            <a:r>
              <a:rPr lang="en-US" altLang="zh-CN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2016</a:t>
            </a: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年，我国视力残疾人口已达</a:t>
            </a:r>
            <a:r>
              <a:rPr lang="en-US" altLang="zh-CN" sz="3200" b="1" dirty="0">
                <a:solidFill>
                  <a:srgbClr val="C00000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1731</a:t>
            </a:r>
            <a:r>
              <a:rPr lang="zh-CN" altLang="en-US" sz="3200" b="1" dirty="0">
                <a:solidFill>
                  <a:srgbClr val="C00000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万</a:t>
            </a: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人</a:t>
            </a:r>
            <a:r>
              <a:rPr lang="en-US" altLang="zh-CN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，</a:t>
            </a: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占总人口</a:t>
            </a:r>
            <a:r>
              <a:rPr lang="en-US" altLang="zh-CN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1.26%，</a:t>
            </a: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并呈现</a:t>
            </a:r>
            <a:r>
              <a:rPr lang="zh-CN" altLang="en-US" sz="32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递增</a:t>
            </a: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趋势</a:t>
            </a:r>
            <a:r>
              <a:rPr lang="en-US" altLang="zh-CN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。</a:t>
            </a: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704020202020204" pitchFamily="34" charset="0"/>
                <a:sym typeface="+mn-ea"/>
              </a:rPr>
              <a:t>是世界上盲人数量</a:t>
            </a:r>
            <a:r>
              <a:rPr lang="zh-CN" altLang="en-US" sz="3200" b="1" dirty="0">
                <a:solidFill>
                  <a:srgbClr val="C00000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704020202020204" pitchFamily="34" charset="0"/>
                <a:sym typeface="+mn-ea"/>
              </a:rPr>
              <a:t>最多</a:t>
            </a: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Arial" panose="020B0704020202020204" pitchFamily="34" charset="0"/>
                <a:sym typeface="+mn-ea"/>
              </a:rPr>
              <a:t>的国家之一。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Noto Sans SC Medium" panose="020B0200000000000000" pitchFamily="34" charset="-122"/>
              <a:ea typeface="Noto Sans SC Medium" panose="020B0200000000000000" pitchFamily="34" charset="-122"/>
              <a:cs typeface="Arial" panose="020B0704020202020204" pitchFamily="34" charset="0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7D62DD-BBBC-7FC8-B708-CB14ED6D5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35" y="972820"/>
            <a:ext cx="5106670" cy="36214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C6A64CB-3065-9176-20E7-B26009BA1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295" y="1311275"/>
            <a:ext cx="6091555" cy="31400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B3DE35D-67A4-ADA8-494B-837C76366B7E}"/>
              </a:ext>
            </a:extLst>
          </p:cNvPr>
          <p:cNvSpPr txBox="1"/>
          <p:nvPr/>
        </p:nvSpPr>
        <p:spPr>
          <a:xfrm>
            <a:off x="6238875" y="4796790"/>
            <a:ext cx="548767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从</a:t>
            </a:r>
            <a:r>
              <a:rPr lang="en-US" altLang="zh-CN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2000</a:t>
            </a: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年到</a:t>
            </a:r>
            <a:r>
              <a:rPr lang="en-US" altLang="zh-CN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2020</a:t>
            </a: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年，我国老年人口数量从</a:t>
            </a:r>
            <a:r>
              <a:rPr lang="en-US" altLang="zh-CN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1.31</a:t>
            </a: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亿提高到</a:t>
            </a:r>
            <a:r>
              <a:rPr lang="en-US" altLang="zh-CN" sz="3200" b="1" dirty="0">
                <a:solidFill>
                  <a:srgbClr val="C00000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2.48</a:t>
            </a:r>
            <a:r>
              <a:rPr lang="zh-CN" altLang="en-US" sz="3200" b="1" dirty="0">
                <a:solidFill>
                  <a:srgbClr val="C00000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亿</a:t>
            </a: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，占人口比例提高到</a:t>
            </a:r>
            <a:r>
              <a:rPr lang="en-US" altLang="zh-CN" sz="3200" b="1" dirty="0">
                <a:solidFill>
                  <a:srgbClr val="C00000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17.2%</a:t>
            </a: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，老龄化严重</a:t>
            </a:r>
            <a:r>
              <a:rPr lang="en-US" altLang="zh-CN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。</a:t>
            </a:r>
            <a:endParaRPr lang="zh-CN" altLang="en-US" sz="2000" b="1" dirty="0">
              <a:latin typeface="Noto Sans SC Medium" panose="020B0200000000000000" pitchFamily="34" charset="-122"/>
              <a:ea typeface="Noto Sans SC Medium" panose="020B0200000000000000" pitchFamily="34" charset="-122"/>
              <a:cs typeface="+mj-ea"/>
              <a:sym typeface="+mn-ea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2000" b="1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j-ea"/>
                <a:sym typeface="+mn-ea"/>
              </a:rPr>
              <a:t>老年弱视群体（如白内障、黄斑病变等）的规模也在随之扩大。</a:t>
            </a:r>
            <a:endParaRPr lang="zh-CN" altLang="en-US" sz="2000" b="1" dirty="0">
              <a:latin typeface="Noto Sans SC Medium" panose="020B0200000000000000" pitchFamily="34" charset="-122"/>
              <a:ea typeface="Noto Sans SC Medium" panose="020B0200000000000000" pitchFamily="34" charset="-122"/>
              <a:cs typeface="+mj-ea"/>
            </a:endParaRPr>
          </a:p>
          <a:p>
            <a:endParaRPr lang="zh-CN" altLang="en-US" b="1" dirty="0"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任意多边形 1">
            <a:extLst>
              <a:ext uri="{FF2B5EF4-FFF2-40B4-BE49-F238E27FC236}">
                <a16:creationId xmlns:a16="http://schemas.microsoft.com/office/drawing/2014/main" id="{74AB6879-F5F2-2FD8-4ED1-5265FE5679E8}"/>
              </a:ext>
            </a:extLst>
          </p:cNvPr>
          <p:cNvSpPr/>
          <p:nvPr/>
        </p:nvSpPr>
        <p:spPr bwMode="auto">
          <a:xfrm>
            <a:off x="5035550" y="2089150"/>
            <a:ext cx="2879725" cy="2879725"/>
          </a:xfrm>
          <a:custGeom>
            <a:avLst/>
            <a:gdLst>
              <a:gd name="T0" fmla="*/ 365 w 2340"/>
              <a:gd name="T1" fmla="*/ 542 h 2348"/>
              <a:gd name="T2" fmla="*/ 805 w 2340"/>
              <a:gd name="T3" fmla="*/ 220 h 2348"/>
              <a:gd name="T4" fmla="*/ 1001 w 2340"/>
              <a:gd name="T5" fmla="*/ 167 h 2348"/>
              <a:gd name="T6" fmla="*/ 1122 w 2340"/>
              <a:gd name="T7" fmla="*/ 155 h 2348"/>
              <a:gd name="T8" fmla="*/ 1230 w 2340"/>
              <a:gd name="T9" fmla="*/ 156 h 2348"/>
              <a:gd name="T10" fmla="*/ 1341 w 2340"/>
              <a:gd name="T11" fmla="*/ 169 h 2348"/>
              <a:gd name="T12" fmla="*/ 1513 w 2340"/>
              <a:gd name="T13" fmla="*/ 215 h 2348"/>
              <a:gd name="T14" fmla="*/ 1590 w 2340"/>
              <a:gd name="T15" fmla="*/ 246 h 2348"/>
              <a:gd name="T16" fmla="*/ 1708 w 2340"/>
              <a:gd name="T17" fmla="*/ 310 h 2348"/>
              <a:gd name="T18" fmla="*/ 1818 w 2340"/>
              <a:gd name="T19" fmla="*/ 389 h 2348"/>
              <a:gd name="T20" fmla="*/ 1940 w 2340"/>
              <a:gd name="T21" fmla="*/ 510 h 2348"/>
              <a:gd name="T22" fmla="*/ 2014 w 2340"/>
              <a:gd name="T23" fmla="*/ 608 h 2348"/>
              <a:gd name="T24" fmla="*/ 2076 w 2340"/>
              <a:gd name="T25" fmla="*/ 714 h 2348"/>
              <a:gd name="T26" fmla="*/ 2137 w 2340"/>
              <a:gd name="T27" fmla="*/ 860 h 2348"/>
              <a:gd name="T28" fmla="*/ 2174 w 2340"/>
              <a:gd name="T29" fmla="*/ 1015 h 2348"/>
              <a:gd name="T30" fmla="*/ 2186 w 2340"/>
              <a:gd name="T31" fmla="*/ 1192 h 2348"/>
              <a:gd name="T32" fmla="*/ 2174 w 2340"/>
              <a:gd name="T33" fmla="*/ 1333 h 2348"/>
              <a:gd name="T34" fmla="*/ 2131 w 2340"/>
              <a:gd name="T35" fmla="*/ 1505 h 2348"/>
              <a:gd name="T36" fmla="*/ 2077 w 2340"/>
              <a:gd name="T37" fmla="*/ 1634 h 2348"/>
              <a:gd name="T38" fmla="*/ 1985 w 2340"/>
              <a:gd name="T39" fmla="*/ 1782 h 2348"/>
              <a:gd name="T40" fmla="*/ 1859 w 2340"/>
              <a:gd name="T41" fmla="*/ 1922 h 2348"/>
              <a:gd name="T42" fmla="*/ 1740 w 2340"/>
              <a:gd name="T43" fmla="*/ 2017 h 2348"/>
              <a:gd name="T44" fmla="*/ 1611 w 2340"/>
              <a:gd name="T45" fmla="*/ 2092 h 2348"/>
              <a:gd name="T46" fmla="*/ 1382 w 2340"/>
              <a:gd name="T47" fmla="*/ 2171 h 2348"/>
              <a:gd name="T48" fmla="*/ 1167 w 2340"/>
              <a:gd name="T49" fmla="*/ 2194 h 2348"/>
              <a:gd name="T50" fmla="*/ 1018 w 2340"/>
              <a:gd name="T51" fmla="*/ 2183 h 2348"/>
              <a:gd name="T52" fmla="*/ 906 w 2340"/>
              <a:gd name="T53" fmla="*/ 2161 h 2348"/>
              <a:gd name="T54" fmla="*/ 775 w 2340"/>
              <a:gd name="T55" fmla="*/ 2117 h 2348"/>
              <a:gd name="T56" fmla="*/ 669 w 2340"/>
              <a:gd name="T57" fmla="*/ 2065 h 2348"/>
              <a:gd name="T58" fmla="*/ 435 w 2340"/>
              <a:gd name="T59" fmla="*/ 1886 h 2348"/>
              <a:gd name="T60" fmla="*/ 486 w 2340"/>
              <a:gd name="T61" fmla="*/ 1739 h 2348"/>
              <a:gd name="T62" fmla="*/ 283 w 2340"/>
              <a:gd name="T63" fmla="*/ 1948 h 2348"/>
              <a:gd name="T64" fmla="*/ 532 w 2340"/>
              <a:gd name="T65" fmla="*/ 2162 h 2348"/>
              <a:gd name="T66" fmla="*/ 660 w 2340"/>
              <a:gd name="T67" fmla="*/ 2234 h 2348"/>
              <a:gd name="T68" fmla="*/ 836 w 2340"/>
              <a:gd name="T69" fmla="*/ 2301 h 2348"/>
              <a:gd name="T70" fmla="*/ 963 w 2340"/>
              <a:gd name="T71" fmla="*/ 2331 h 2348"/>
              <a:gd name="T72" fmla="*/ 1098 w 2340"/>
              <a:gd name="T73" fmla="*/ 2346 h 2348"/>
              <a:gd name="T74" fmla="*/ 1343 w 2340"/>
              <a:gd name="T75" fmla="*/ 2335 h 2348"/>
              <a:gd name="T76" fmla="*/ 1626 w 2340"/>
              <a:gd name="T77" fmla="*/ 2254 h 2348"/>
              <a:gd name="T78" fmla="*/ 1795 w 2340"/>
              <a:gd name="T79" fmla="*/ 2166 h 2348"/>
              <a:gd name="T80" fmla="*/ 1949 w 2340"/>
              <a:gd name="T81" fmla="*/ 2049 h 2348"/>
              <a:gd name="T82" fmla="*/ 2072 w 2340"/>
              <a:gd name="T83" fmla="*/ 1921 h 2348"/>
              <a:gd name="T84" fmla="*/ 2195 w 2340"/>
              <a:gd name="T85" fmla="*/ 1739 h 2348"/>
              <a:gd name="T86" fmla="*/ 2267 w 2340"/>
              <a:gd name="T87" fmla="*/ 1583 h 2348"/>
              <a:gd name="T88" fmla="*/ 2306 w 2340"/>
              <a:gd name="T89" fmla="*/ 1457 h 2348"/>
              <a:gd name="T90" fmla="*/ 2336 w 2340"/>
              <a:gd name="T91" fmla="*/ 1276 h 2348"/>
              <a:gd name="T92" fmla="*/ 2334 w 2340"/>
              <a:gd name="T93" fmla="*/ 1052 h 2348"/>
              <a:gd name="T94" fmla="*/ 2301 w 2340"/>
              <a:gd name="T95" fmla="*/ 871 h 2348"/>
              <a:gd name="T96" fmla="*/ 2231 w 2340"/>
              <a:gd name="T97" fmla="*/ 680 h 2348"/>
              <a:gd name="T98" fmla="*/ 2164 w 2340"/>
              <a:gd name="T99" fmla="*/ 556 h 2348"/>
              <a:gd name="T100" fmla="*/ 2083 w 2340"/>
              <a:gd name="T101" fmla="*/ 441 h 2348"/>
              <a:gd name="T102" fmla="*/ 1990 w 2340"/>
              <a:gd name="T103" fmla="*/ 337 h 2348"/>
              <a:gd name="T104" fmla="*/ 1854 w 2340"/>
              <a:gd name="T105" fmla="*/ 223 h 2348"/>
              <a:gd name="T106" fmla="*/ 1680 w 2340"/>
              <a:gd name="T107" fmla="*/ 118 h 2348"/>
              <a:gd name="T108" fmla="*/ 1583 w 2340"/>
              <a:gd name="T109" fmla="*/ 76 h 2348"/>
              <a:gd name="T110" fmla="*/ 1439 w 2340"/>
              <a:gd name="T111" fmla="*/ 32 h 2348"/>
              <a:gd name="T112" fmla="*/ 1276 w 2340"/>
              <a:gd name="T113" fmla="*/ 5 h 2348"/>
              <a:gd name="T114" fmla="*/ 1168 w 2340"/>
              <a:gd name="T115" fmla="*/ 0 h 2348"/>
              <a:gd name="T116" fmla="*/ 1045 w 2340"/>
              <a:gd name="T117" fmla="*/ 6 h 2348"/>
              <a:gd name="T118" fmla="*/ 844 w 2340"/>
              <a:gd name="T119" fmla="*/ 45 h 2348"/>
              <a:gd name="T120" fmla="*/ 579 w 2340"/>
              <a:gd name="T121" fmla="*/ 157 h 2348"/>
              <a:gd name="T122" fmla="*/ 3 w 2340"/>
              <a:gd name="T123" fmla="*/ 1014 h 2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340" h="2348">
                <a:moveTo>
                  <a:pt x="153" y="1052"/>
                </a:moveTo>
                <a:cubicBezTo>
                  <a:pt x="153" y="1052"/>
                  <a:pt x="154" y="1046"/>
                  <a:pt x="155" y="1035"/>
                </a:cubicBezTo>
                <a:cubicBezTo>
                  <a:pt x="157" y="1024"/>
                  <a:pt x="159" y="1007"/>
                  <a:pt x="164" y="985"/>
                </a:cubicBezTo>
                <a:cubicBezTo>
                  <a:pt x="172" y="941"/>
                  <a:pt x="186" y="878"/>
                  <a:pt x="217" y="801"/>
                </a:cubicBezTo>
                <a:cubicBezTo>
                  <a:pt x="224" y="781"/>
                  <a:pt x="233" y="761"/>
                  <a:pt x="242" y="740"/>
                </a:cubicBezTo>
                <a:cubicBezTo>
                  <a:pt x="253" y="720"/>
                  <a:pt x="263" y="698"/>
                  <a:pt x="275" y="677"/>
                </a:cubicBezTo>
                <a:cubicBezTo>
                  <a:pt x="300" y="633"/>
                  <a:pt x="329" y="588"/>
                  <a:pt x="365" y="542"/>
                </a:cubicBezTo>
                <a:cubicBezTo>
                  <a:pt x="401" y="497"/>
                  <a:pt x="443" y="452"/>
                  <a:pt x="491" y="409"/>
                </a:cubicBezTo>
                <a:cubicBezTo>
                  <a:pt x="540" y="366"/>
                  <a:pt x="595" y="326"/>
                  <a:pt x="656" y="290"/>
                </a:cubicBezTo>
                <a:cubicBezTo>
                  <a:pt x="672" y="281"/>
                  <a:pt x="688" y="273"/>
                  <a:pt x="704" y="265"/>
                </a:cubicBezTo>
                <a:cubicBezTo>
                  <a:pt x="712" y="260"/>
                  <a:pt x="720" y="256"/>
                  <a:pt x="728" y="253"/>
                </a:cubicBezTo>
                <a:cubicBezTo>
                  <a:pt x="737" y="249"/>
                  <a:pt x="745" y="245"/>
                  <a:pt x="753" y="241"/>
                </a:cubicBezTo>
                <a:cubicBezTo>
                  <a:pt x="762" y="237"/>
                  <a:pt x="770" y="234"/>
                  <a:pt x="779" y="230"/>
                </a:cubicBezTo>
                <a:cubicBezTo>
                  <a:pt x="787" y="227"/>
                  <a:pt x="796" y="223"/>
                  <a:pt x="805" y="220"/>
                </a:cubicBezTo>
                <a:cubicBezTo>
                  <a:pt x="823" y="213"/>
                  <a:pt x="840" y="207"/>
                  <a:pt x="859" y="201"/>
                </a:cubicBezTo>
                <a:cubicBezTo>
                  <a:pt x="868" y="198"/>
                  <a:pt x="877" y="195"/>
                  <a:pt x="886" y="193"/>
                </a:cubicBezTo>
                <a:cubicBezTo>
                  <a:pt x="896" y="190"/>
                  <a:pt x="905" y="188"/>
                  <a:pt x="914" y="185"/>
                </a:cubicBezTo>
                <a:cubicBezTo>
                  <a:pt x="919" y="184"/>
                  <a:pt x="924" y="183"/>
                  <a:pt x="929" y="182"/>
                </a:cubicBezTo>
                <a:cubicBezTo>
                  <a:pt x="933" y="181"/>
                  <a:pt x="938" y="180"/>
                  <a:pt x="943" y="179"/>
                </a:cubicBezTo>
                <a:cubicBezTo>
                  <a:pt x="952" y="177"/>
                  <a:pt x="962" y="174"/>
                  <a:pt x="972" y="172"/>
                </a:cubicBezTo>
                <a:cubicBezTo>
                  <a:pt x="981" y="170"/>
                  <a:pt x="991" y="169"/>
                  <a:pt x="1001" y="167"/>
                </a:cubicBezTo>
                <a:cubicBezTo>
                  <a:pt x="1011" y="166"/>
                  <a:pt x="1021" y="164"/>
                  <a:pt x="1031" y="163"/>
                </a:cubicBezTo>
                <a:cubicBezTo>
                  <a:pt x="1041" y="162"/>
                  <a:pt x="1051" y="161"/>
                  <a:pt x="1061" y="159"/>
                </a:cubicBezTo>
                <a:cubicBezTo>
                  <a:pt x="1068" y="159"/>
                  <a:pt x="1068" y="159"/>
                  <a:pt x="1068" y="159"/>
                </a:cubicBezTo>
                <a:cubicBezTo>
                  <a:pt x="1071" y="158"/>
                  <a:pt x="1073" y="158"/>
                  <a:pt x="1076" y="158"/>
                </a:cubicBezTo>
                <a:cubicBezTo>
                  <a:pt x="1081" y="158"/>
                  <a:pt x="1086" y="157"/>
                  <a:pt x="1091" y="157"/>
                </a:cubicBezTo>
                <a:cubicBezTo>
                  <a:pt x="1096" y="157"/>
                  <a:pt x="1101" y="156"/>
                  <a:pt x="1106" y="156"/>
                </a:cubicBezTo>
                <a:cubicBezTo>
                  <a:pt x="1111" y="156"/>
                  <a:pt x="1116" y="155"/>
                  <a:pt x="1122" y="155"/>
                </a:cubicBezTo>
                <a:cubicBezTo>
                  <a:pt x="1132" y="155"/>
                  <a:pt x="1142" y="154"/>
                  <a:pt x="1152" y="154"/>
                </a:cubicBezTo>
                <a:cubicBezTo>
                  <a:pt x="1158" y="154"/>
                  <a:pt x="1163" y="154"/>
                  <a:pt x="1168" y="154"/>
                </a:cubicBezTo>
                <a:cubicBezTo>
                  <a:pt x="1173" y="154"/>
                  <a:pt x="1178" y="154"/>
                  <a:pt x="1183" y="154"/>
                </a:cubicBezTo>
                <a:cubicBezTo>
                  <a:pt x="1194" y="155"/>
                  <a:pt x="1204" y="155"/>
                  <a:pt x="1215" y="155"/>
                </a:cubicBezTo>
                <a:cubicBezTo>
                  <a:pt x="1219" y="155"/>
                  <a:pt x="1219" y="155"/>
                  <a:pt x="1219" y="155"/>
                </a:cubicBezTo>
                <a:cubicBezTo>
                  <a:pt x="1223" y="156"/>
                  <a:pt x="1223" y="156"/>
                  <a:pt x="1223" y="156"/>
                </a:cubicBezTo>
                <a:cubicBezTo>
                  <a:pt x="1230" y="156"/>
                  <a:pt x="1230" y="156"/>
                  <a:pt x="1230" y="156"/>
                </a:cubicBezTo>
                <a:cubicBezTo>
                  <a:pt x="1236" y="157"/>
                  <a:pt x="1241" y="157"/>
                  <a:pt x="1246" y="157"/>
                </a:cubicBezTo>
                <a:cubicBezTo>
                  <a:pt x="1251" y="158"/>
                  <a:pt x="1257" y="158"/>
                  <a:pt x="1262" y="159"/>
                </a:cubicBezTo>
                <a:cubicBezTo>
                  <a:pt x="1270" y="159"/>
                  <a:pt x="1270" y="159"/>
                  <a:pt x="1270" y="159"/>
                </a:cubicBezTo>
                <a:cubicBezTo>
                  <a:pt x="1272" y="159"/>
                  <a:pt x="1275" y="160"/>
                  <a:pt x="1278" y="160"/>
                </a:cubicBezTo>
                <a:cubicBezTo>
                  <a:pt x="1288" y="161"/>
                  <a:pt x="1299" y="163"/>
                  <a:pt x="1309" y="164"/>
                </a:cubicBezTo>
                <a:cubicBezTo>
                  <a:pt x="1314" y="165"/>
                  <a:pt x="1320" y="165"/>
                  <a:pt x="1325" y="166"/>
                </a:cubicBezTo>
                <a:cubicBezTo>
                  <a:pt x="1330" y="167"/>
                  <a:pt x="1335" y="168"/>
                  <a:pt x="1341" y="169"/>
                </a:cubicBezTo>
                <a:cubicBezTo>
                  <a:pt x="1351" y="171"/>
                  <a:pt x="1362" y="173"/>
                  <a:pt x="1372" y="175"/>
                </a:cubicBezTo>
                <a:cubicBezTo>
                  <a:pt x="1383" y="177"/>
                  <a:pt x="1393" y="180"/>
                  <a:pt x="1404" y="182"/>
                </a:cubicBezTo>
                <a:cubicBezTo>
                  <a:pt x="1409" y="183"/>
                  <a:pt x="1414" y="184"/>
                  <a:pt x="1419" y="186"/>
                </a:cubicBezTo>
                <a:cubicBezTo>
                  <a:pt x="1425" y="187"/>
                  <a:pt x="1430" y="189"/>
                  <a:pt x="1435" y="190"/>
                </a:cubicBezTo>
                <a:cubicBezTo>
                  <a:pt x="1446" y="193"/>
                  <a:pt x="1456" y="196"/>
                  <a:pt x="1466" y="199"/>
                </a:cubicBezTo>
                <a:cubicBezTo>
                  <a:pt x="1477" y="202"/>
                  <a:pt x="1487" y="206"/>
                  <a:pt x="1498" y="209"/>
                </a:cubicBezTo>
                <a:cubicBezTo>
                  <a:pt x="1503" y="211"/>
                  <a:pt x="1508" y="213"/>
                  <a:pt x="1513" y="215"/>
                </a:cubicBezTo>
                <a:cubicBezTo>
                  <a:pt x="1516" y="215"/>
                  <a:pt x="1518" y="216"/>
                  <a:pt x="1521" y="217"/>
                </a:cubicBezTo>
                <a:cubicBezTo>
                  <a:pt x="1528" y="220"/>
                  <a:pt x="1528" y="220"/>
                  <a:pt x="1528" y="220"/>
                </a:cubicBezTo>
                <a:cubicBezTo>
                  <a:pt x="1539" y="224"/>
                  <a:pt x="1549" y="228"/>
                  <a:pt x="1559" y="233"/>
                </a:cubicBezTo>
                <a:cubicBezTo>
                  <a:pt x="1563" y="234"/>
                  <a:pt x="1563" y="234"/>
                  <a:pt x="1563" y="234"/>
                </a:cubicBezTo>
                <a:cubicBezTo>
                  <a:pt x="1567" y="236"/>
                  <a:pt x="1567" y="236"/>
                  <a:pt x="1567" y="236"/>
                </a:cubicBezTo>
                <a:cubicBezTo>
                  <a:pt x="1574" y="239"/>
                  <a:pt x="1574" y="239"/>
                  <a:pt x="1574" y="239"/>
                </a:cubicBezTo>
                <a:cubicBezTo>
                  <a:pt x="1590" y="246"/>
                  <a:pt x="1590" y="246"/>
                  <a:pt x="1590" y="246"/>
                </a:cubicBezTo>
                <a:cubicBezTo>
                  <a:pt x="1605" y="253"/>
                  <a:pt x="1605" y="253"/>
                  <a:pt x="1605" y="253"/>
                </a:cubicBezTo>
                <a:cubicBezTo>
                  <a:pt x="1607" y="254"/>
                  <a:pt x="1610" y="255"/>
                  <a:pt x="1612" y="257"/>
                </a:cubicBezTo>
                <a:cubicBezTo>
                  <a:pt x="1620" y="260"/>
                  <a:pt x="1620" y="260"/>
                  <a:pt x="1620" y="260"/>
                </a:cubicBezTo>
                <a:cubicBezTo>
                  <a:pt x="1630" y="265"/>
                  <a:pt x="1640" y="270"/>
                  <a:pt x="1649" y="276"/>
                </a:cubicBezTo>
                <a:cubicBezTo>
                  <a:pt x="1659" y="281"/>
                  <a:pt x="1669" y="287"/>
                  <a:pt x="1679" y="292"/>
                </a:cubicBezTo>
                <a:cubicBezTo>
                  <a:pt x="1693" y="301"/>
                  <a:pt x="1693" y="301"/>
                  <a:pt x="1693" y="301"/>
                </a:cubicBezTo>
                <a:cubicBezTo>
                  <a:pt x="1698" y="303"/>
                  <a:pt x="1703" y="307"/>
                  <a:pt x="1708" y="310"/>
                </a:cubicBezTo>
                <a:cubicBezTo>
                  <a:pt x="1717" y="316"/>
                  <a:pt x="1727" y="322"/>
                  <a:pt x="1736" y="328"/>
                </a:cubicBezTo>
                <a:cubicBezTo>
                  <a:pt x="1745" y="334"/>
                  <a:pt x="1755" y="341"/>
                  <a:pt x="1764" y="348"/>
                </a:cubicBezTo>
                <a:cubicBezTo>
                  <a:pt x="1768" y="351"/>
                  <a:pt x="1773" y="354"/>
                  <a:pt x="1778" y="358"/>
                </a:cubicBezTo>
                <a:cubicBezTo>
                  <a:pt x="1791" y="368"/>
                  <a:pt x="1791" y="368"/>
                  <a:pt x="1791" y="368"/>
                </a:cubicBezTo>
                <a:cubicBezTo>
                  <a:pt x="1804" y="379"/>
                  <a:pt x="1804" y="379"/>
                  <a:pt x="1804" y="379"/>
                </a:cubicBezTo>
                <a:cubicBezTo>
                  <a:pt x="1811" y="384"/>
                  <a:pt x="1811" y="384"/>
                  <a:pt x="1811" y="384"/>
                </a:cubicBezTo>
                <a:cubicBezTo>
                  <a:pt x="1813" y="386"/>
                  <a:pt x="1816" y="387"/>
                  <a:pt x="1818" y="389"/>
                </a:cubicBezTo>
                <a:cubicBezTo>
                  <a:pt x="1835" y="404"/>
                  <a:pt x="1853" y="419"/>
                  <a:pt x="1869" y="435"/>
                </a:cubicBezTo>
                <a:cubicBezTo>
                  <a:pt x="1882" y="447"/>
                  <a:pt x="1882" y="447"/>
                  <a:pt x="1882" y="447"/>
                </a:cubicBezTo>
                <a:cubicBezTo>
                  <a:pt x="1888" y="453"/>
                  <a:pt x="1888" y="453"/>
                  <a:pt x="1888" y="453"/>
                </a:cubicBezTo>
                <a:cubicBezTo>
                  <a:pt x="1894" y="459"/>
                  <a:pt x="1894" y="459"/>
                  <a:pt x="1894" y="459"/>
                </a:cubicBezTo>
                <a:cubicBezTo>
                  <a:pt x="1902" y="468"/>
                  <a:pt x="1910" y="476"/>
                  <a:pt x="1918" y="484"/>
                </a:cubicBezTo>
                <a:cubicBezTo>
                  <a:pt x="1922" y="489"/>
                  <a:pt x="1925" y="493"/>
                  <a:pt x="1929" y="497"/>
                </a:cubicBezTo>
                <a:cubicBezTo>
                  <a:pt x="1940" y="510"/>
                  <a:pt x="1940" y="510"/>
                  <a:pt x="1940" y="510"/>
                </a:cubicBezTo>
                <a:cubicBezTo>
                  <a:pt x="1952" y="524"/>
                  <a:pt x="1952" y="524"/>
                  <a:pt x="1952" y="524"/>
                </a:cubicBezTo>
                <a:cubicBezTo>
                  <a:pt x="1956" y="528"/>
                  <a:pt x="1959" y="533"/>
                  <a:pt x="1963" y="537"/>
                </a:cubicBezTo>
                <a:cubicBezTo>
                  <a:pt x="1970" y="546"/>
                  <a:pt x="1977" y="556"/>
                  <a:pt x="1984" y="565"/>
                </a:cubicBezTo>
                <a:cubicBezTo>
                  <a:pt x="1991" y="574"/>
                  <a:pt x="1998" y="584"/>
                  <a:pt x="2004" y="593"/>
                </a:cubicBezTo>
                <a:cubicBezTo>
                  <a:pt x="2010" y="600"/>
                  <a:pt x="2010" y="600"/>
                  <a:pt x="2010" y="600"/>
                </a:cubicBezTo>
                <a:cubicBezTo>
                  <a:pt x="2012" y="604"/>
                  <a:pt x="2012" y="604"/>
                  <a:pt x="2012" y="604"/>
                </a:cubicBezTo>
                <a:cubicBezTo>
                  <a:pt x="2014" y="608"/>
                  <a:pt x="2014" y="608"/>
                  <a:pt x="2014" y="608"/>
                </a:cubicBezTo>
                <a:cubicBezTo>
                  <a:pt x="2024" y="622"/>
                  <a:pt x="2024" y="622"/>
                  <a:pt x="2024" y="622"/>
                </a:cubicBezTo>
                <a:cubicBezTo>
                  <a:pt x="2033" y="637"/>
                  <a:pt x="2033" y="637"/>
                  <a:pt x="2033" y="637"/>
                </a:cubicBezTo>
                <a:cubicBezTo>
                  <a:pt x="2038" y="644"/>
                  <a:pt x="2038" y="644"/>
                  <a:pt x="2038" y="644"/>
                </a:cubicBezTo>
                <a:cubicBezTo>
                  <a:pt x="2040" y="647"/>
                  <a:pt x="2041" y="649"/>
                  <a:pt x="2042" y="652"/>
                </a:cubicBezTo>
                <a:cubicBezTo>
                  <a:pt x="2048" y="662"/>
                  <a:pt x="2054" y="672"/>
                  <a:pt x="2060" y="682"/>
                </a:cubicBezTo>
                <a:cubicBezTo>
                  <a:pt x="2063" y="687"/>
                  <a:pt x="2066" y="693"/>
                  <a:pt x="2068" y="698"/>
                </a:cubicBezTo>
                <a:cubicBezTo>
                  <a:pt x="2076" y="714"/>
                  <a:pt x="2076" y="714"/>
                  <a:pt x="2076" y="714"/>
                </a:cubicBezTo>
                <a:cubicBezTo>
                  <a:pt x="2084" y="729"/>
                  <a:pt x="2084" y="729"/>
                  <a:pt x="2084" y="729"/>
                </a:cubicBezTo>
                <a:cubicBezTo>
                  <a:pt x="2087" y="734"/>
                  <a:pt x="2089" y="740"/>
                  <a:pt x="2092" y="745"/>
                </a:cubicBezTo>
                <a:cubicBezTo>
                  <a:pt x="2096" y="756"/>
                  <a:pt x="2101" y="767"/>
                  <a:pt x="2106" y="777"/>
                </a:cubicBezTo>
                <a:cubicBezTo>
                  <a:pt x="2110" y="788"/>
                  <a:pt x="2115" y="799"/>
                  <a:pt x="2119" y="810"/>
                </a:cubicBezTo>
                <a:cubicBezTo>
                  <a:pt x="2121" y="816"/>
                  <a:pt x="2124" y="821"/>
                  <a:pt x="2125" y="827"/>
                </a:cubicBezTo>
                <a:cubicBezTo>
                  <a:pt x="2131" y="843"/>
                  <a:pt x="2131" y="843"/>
                  <a:pt x="2131" y="843"/>
                </a:cubicBezTo>
                <a:cubicBezTo>
                  <a:pt x="2137" y="860"/>
                  <a:pt x="2137" y="860"/>
                  <a:pt x="2137" y="860"/>
                </a:cubicBezTo>
                <a:cubicBezTo>
                  <a:pt x="2139" y="866"/>
                  <a:pt x="2141" y="871"/>
                  <a:pt x="2142" y="877"/>
                </a:cubicBezTo>
                <a:cubicBezTo>
                  <a:pt x="2152" y="911"/>
                  <a:pt x="2152" y="911"/>
                  <a:pt x="2152" y="911"/>
                </a:cubicBezTo>
                <a:cubicBezTo>
                  <a:pt x="2154" y="920"/>
                  <a:pt x="2154" y="920"/>
                  <a:pt x="2154" y="920"/>
                </a:cubicBezTo>
                <a:cubicBezTo>
                  <a:pt x="2156" y="928"/>
                  <a:pt x="2156" y="928"/>
                  <a:pt x="2156" y="928"/>
                </a:cubicBezTo>
                <a:cubicBezTo>
                  <a:pt x="2160" y="945"/>
                  <a:pt x="2160" y="945"/>
                  <a:pt x="2160" y="945"/>
                </a:cubicBezTo>
                <a:cubicBezTo>
                  <a:pt x="2163" y="957"/>
                  <a:pt x="2166" y="968"/>
                  <a:pt x="2167" y="980"/>
                </a:cubicBezTo>
                <a:cubicBezTo>
                  <a:pt x="2174" y="1015"/>
                  <a:pt x="2174" y="1015"/>
                  <a:pt x="2174" y="1015"/>
                </a:cubicBezTo>
                <a:cubicBezTo>
                  <a:pt x="2176" y="1027"/>
                  <a:pt x="2177" y="1038"/>
                  <a:pt x="2178" y="1050"/>
                </a:cubicBezTo>
                <a:cubicBezTo>
                  <a:pt x="2181" y="1068"/>
                  <a:pt x="2181" y="1068"/>
                  <a:pt x="2181" y="1068"/>
                </a:cubicBezTo>
                <a:cubicBezTo>
                  <a:pt x="2181" y="1074"/>
                  <a:pt x="2182" y="1080"/>
                  <a:pt x="2182" y="1086"/>
                </a:cubicBezTo>
                <a:cubicBezTo>
                  <a:pt x="2185" y="1121"/>
                  <a:pt x="2185" y="1121"/>
                  <a:pt x="2185" y="1121"/>
                </a:cubicBezTo>
                <a:cubicBezTo>
                  <a:pt x="2186" y="1156"/>
                  <a:pt x="2186" y="1156"/>
                  <a:pt x="2186" y="1156"/>
                </a:cubicBezTo>
                <a:cubicBezTo>
                  <a:pt x="2186" y="1174"/>
                  <a:pt x="2186" y="1174"/>
                  <a:pt x="2186" y="1174"/>
                </a:cubicBezTo>
                <a:cubicBezTo>
                  <a:pt x="2186" y="1192"/>
                  <a:pt x="2186" y="1192"/>
                  <a:pt x="2186" y="1192"/>
                </a:cubicBezTo>
                <a:cubicBezTo>
                  <a:pt x="2185" y="1228"/>
                  <a:pt x="2185" y="1228"/>
                  <a:pt x="2185" y="1228"/>
                </a:cubicBezTo>
                <a:cubicBezTo>
                  <a:pt x="2182" y="1263"/>
                  <a:pt x="2182" y="1263"/>
                  <a:pt x="2182" y="1263"/>
                </a:cubicBezTo>
                <a:cubicBezTo>
                  <a:pt x="2182" y="1269"/>
                  <a:pt x="2181" y="1275"/>
                  <a:pt x="2181" y="1281"/>
                </a:cubicBezTo>
                <a:cubicBezTo>
                  <a:pt x="2178" y="1298"/>
                  <a:pt x="2178" y="1298"/>
                  <a:pt x="2178" y="1298"/>
                </a:cubicBezTo>
                <a:cubicBezTo>
                  <a:pt x="2176" y="1316"/>
                  <a:pt x="2176" y="1316"/>
                  <a:pt x="2176" y="1316"/>
                </a:cubicBezTo>
                <a:cubicBezTo>
                  <a:pt x="2175" y="1325"/>
                  <a:pt x="2175" y="1325"/>
                  <a:pt x="2175" y="1325"/>
                </a:cubicBezTo>
                <a:cubicBezTo>
                  <a:pt x="2175" y="1327"/>
                  <a:pt x="2174" y="1330"/>
                  <a:pt x="2174" y="1333"/>
                </a:cubicBezTo>
                <a:cubicBezTo>
                  <a:pt x="2169" y="1357"/>
                  <a:pt x="2166" y="1380"/>
                  <a:pt x="2160" y="1403"/>
                </a:cubicBezTo>
                <a:cubicBezTo>
                  <a:pt x="2156" y="1420"/>
                  <a:pt x="2156" y="1420"/>
                  <a:pt x="2156" y="1420"/>
                </a:cubicBezTo>
                <a:cubicBezTo>
                  <a:pt x="2154" y="1429"/>
                  <a:pt x="2154" y="1429"/>
                  <a:pt x="2154" y="1429"/>
                </a:cubicBezTo>
                <a:cubicBezTo>
                  <a:pt x="2152" y="1437"/>
                  <a:pt x="2152" y="1437"/>
                  <a:pt x="2152" y="1437"/>
                </a:cubicBezTo>
                <a:cubicBezTo>
                  <a:pt x="2149" y="1448"/>
                  <a:pt x="2145" y="1460"/>
                  <a:pt x="2142" y="1471"/>
                </a:cubicBezTo>
                <a:cubicBezTo>
                  <a:pt x="2141" y="1477"/>
                  <a:pt x="2139" y="1482"/>
                  <a:pt x="2137" y="1488"/>
                </a:cubicBezTo>
                <a:cubicBezTo>
                  <a:pt x="2131" y="1505"/>
                  <a:pt x="2131" y="1505"/>
                  <a:pt x="2131" y="1505"/>
                </a:cubicBezTo>
                <a:cubicBezTo>
                  <a:pt x="2125" y="1521"/>
                  <a:pt x="2125" y="1521"/>
                  <a:pt x="2125" y="1521"/>
                </a:cubicBezTo>
                <a:cubicBezTo>
                  <a:pt x="2125" y="1524"/>
                  <a:pt x="2124" y="1527"/>
                  <a:pt x="2122" y="1529"/>
                </a:cubicBezTo>
                <a:cubicBezTo>
                  <a:pt x="2119" y="1538"/>
                  <a:pt x="2119" y="1538"/>
                  <a:pt x="2119" y="1538"/>
                </a:cubicBezTo>
                <a:cubicBezTo>
                  <a:pt x="2115" y="1549"/>
                  <a:pt x="2111" y="1559"/>
                  <a:pt x="2106" y="1570"/>
                </a:cubicBezTo>
                <a:cubicBezTo>
                  <a:pt x="2101" y="1581"/>
                  <a:pt x="2097" y="1592"/>
                  <a:pt x="2092" y="1602"/>
                </a:cubicBezTo>
                <a:cubicBezTo>
                  <a:pt x="2089" y="1608"/>
                  <a:pt x="2087" y="1613"/>
                  <a:pt x="2085" y="1618"/>
                </a:cubicBezTo>
                <a:cubicBezTo>
                  <a:pt x="2077" y="1634"/>
                  <a:pt x="2077" y="1634"/>
                  <a:pt x="2077" y="1634"/>
                </a:cubicBezTo>
                <a:cubicBezTo>
                  <a:pt x="2069" y="1649"/>
                  <a:pt x="2069" y="1649"/>
                  <a:pt x="2069" y="1649"/>
                </a:cubicBezTo>
                <a:cubicBezTo>
                  <a:pt x="2066" y="1655"/>
                  <a:pt x="2063" y="1660"/>
                  <a:pt x="2060" y="1665"/>
                </a:cubicBezTo>
                <a:cubicBezTo>
                  <a:pt x="2055" y="1675"/>
                  <a:pt x="2049" y="1685"/>
                  <a:pt x="2043" y="1695"/>
                </a:cubicBezTo>
                <a:cubicBezTo>
                  <a:pt x="2039" y="1703"/>
                  <a:pt x="2039" y="1703"/>
                  <a:pt x="2039" y="1703"/>
                </a:cubicBezTo>
                <a:cubicBezTo>
                  <a:pt x="2034" y="1710"/>
                  <a:pt x="2034" y="1710"/>
                  <a:pt x="2034" y="1710"/>
                </a:cubicBezTo>
                <a:cubicBezTo>
                  <a:pt x="2025" y="1725"/>
                  <a:pt x="2025" y="1725"/>
                  <a:pt x="2025" y="1725"/>
                </a:cubicBezTo>
                <a:cubicBezTo>
                  <a:pt x="2012" y="1744"/>
                  <a:pt x="1999" y="1763"/>
                  <a:pt x="1985" y="1782"/>
                </a:cubicBezTo>
                <a:cubicBezTo>
                  <a:pt x="1978" y="1791"/>
                  <a:pt x="1971" y="1800"/>
                  <a:pt x="1964" y="1809"/>
                </a:cubicBezTo>
                <a:cubicBezTo>
                  <a:pt x="1953" y="1823"/>
                  <a:pt x="1953" y="1823"/>
                  <a:pt x="1953" y="1823"/>
                </a:cubicBezTo>
                <a:cubicBezTo>
                  <a:pt x="1942" y="1836"/>
                  <a:pt x="1942" y="1836"/>
                  <a:pt x="1942" y="1836"/>
                </a:cubicBezTo>
                <a:cubicBezTo>
                  <a:pt x="1934" y="1844"/>
                  <a:pt x="1927" y="1853"/>
                  <a:pt x="1919" y="1862"/>
                </a:cubicBezTo>
                <a:cubicBezTo>
                  <a:pt x="1911" y="1870"/>
                  <a:pt x="1904" y="1878"/>
                  <a:pt x="1896" y="1887"/>
                </a:cubicBezTo>
                <a:cubicBezTo>
                  <a:pt x="1888" y="1895"/>
                  <a:pt x="1880" y="1903"/>
                  <a:pt x="1871" y="1911"/>
                </a:cubicBezTo>
                <a:cubicBezTo>
                  <a:pt x="1859" y="1922"/>
                  <a:pt x="1859" y="1922"/>
                  <a:pt x="1859" y="1922"/>
                </a:cubicBezTo>
                <a:cubicBezTo>
                  <a:pt x="1853" y="1928"/>
                  <a:pt x="1853" y="1928"/>
                  <a:pt x="1853" y="1928"/>
                </a:cubicBezTo>
                <a:cubicBezTo>
                  <a:pt x="1851" y="1930"/>
                  <a:pt x="1849" y="1932"/>
                  <a:pt x="1846" y="1934"/>
                </a:cubicBezTo>
                <a:cubicBezTo>
                  <a:pt x="1838" y="1941"/>
                  <a:pt x="1829" y="1949"/>
                  <a:pt x="1821" y="1956"/>
                </a:cubicBezTo>
                <a:cubicBezTo>
                  <a:pt x="1819" y="1958"/>
                  <a:pt x="1816" y="1960"/>
                  <a:pt x="1814" y="1962"/>
                </a:cubicBezTo>
                <a:cubicBezTo>
                  <a:pt x="1808" y="1967"/>
                  <a:pt x="1808" y="1967"/>
                  <a:pt x="1808" y="1967"/>
                </a:cubicBezTo>
                <a:cubicBezTo>
                  <a:pt x="1794" y="1977"/>
                  <a:pt x="1794" y="1977"/>
                  <a:pt x="1794" y="1977"/>
                </a:cubicBezTo>
                <a:cubicBezTo>
                  <a:pt x="1777" y="1992"/>
                  <a:pt x="1758" y="2004"/>
                  <a:pt x="1740" y="2017"/>
                </a:cubicBezTo>
                <a:cubicBezTo>
                  <a:pt x="1736" y="2021"/>
                  <a:pt x="1731" y="2023"/>
                  <a:pt x="1726" y="2027"/>
                </a:cubicBezTo>
                <a:cubicBezTo>
                  <a:pt x="1712" y="2036"/>
                  <a:pt x="1712" y="2036"/>
                  <a:pt x="1712" y="2036"/>
                </a:cubicBezTo>
                <a:cubicBezTo>
                  <a:pt x="1698" y="2045"/>
                  <a:pt x="1698" y="2045"/>
                  <a:pt x="1698" y="2045"/>
                </a:cubicBezTo>
                <a:cubicBezTo>
                  <a:pt x="1693" y="2048"/>
                  <a:pt x="1688" y="2050"/>
                  <a:pt x="1684" y="2053"/>
                </a:cubicBezTo>
                <a:cubicBezTo>
                  <a:pt x="1674" y="2059"/>
                  <a:pt x="1664" y="2064"/>
                  <a:pt x="1655" y="2070"/>
                </a:cubicBezTo>
                <a:cubicBezTo>
                  <a:pt x="1645" y="2075"/>
                  <a:pt x="1635" y="2080"/>
                  <a:pt x="1625" y="2085"/>
                </a:cubicBezTo>
                <a:cubicBezTo>
                  <a:pt x="1621" y="2087"/>
                  <a:pt x="1616" y="2090"/>
                  <a:pt x="1611" y="2092"/>
                </a:cubicBezTo>
                <a:cubicBezTo>
                  <a:pt x="1606" y="2095"/>
                  <a:pt x="1601" y="2097"/>
                  <a:pt x="1596" y="2099"/>
                </a:cubicBezTo>
                <a:cubicBezTo>
                  <a:pt x="1586" y="2104"/>
                  <a:pt x="1576" y="2108"/>
                  <a:pt x="1566" y="2113"/>
                </a:cubicBezTo>
                <a:cubicBezTo>
                  <a:pt x="1526" y="2129"/>
                  <a:pt x="1485" y="2145"/>
                  <a:pt x="1444" y="2156"/>
                </a:cubicBezTo>
                <a:cubicBezTo>
                  <a:pt x="1439" y="2157"/>
                  <a:pt x="1434" y="2158"/>
                  <a:pt x="1429" y="2160"/>
                </a:cubicBezTo>
                <a:cubicBezTo>
                  <a:pt x="1421" y="2162"/>
                  <a:pt x="1421" y="2162"/>
                  <a:pt x="1421" y="2162"/>
                </a:cubicBezTo>
                <a:cubicBezTo>
                  <a:pt x="1413" y="2164"/>
                  <a:pt x="1413" y="2164"/>
                  <a:pt x="1413" y="2164"/>
                </a:cubicBezTo>
                <a:cubicBezTo>
                  <a:pt x="1403" y="2166"/>
                  <a:pt x="1392" y="2169"/>
                  <a:pt x="1382" y="2171"/>
                </a:cubicBezTo>
                <a:cubicBezTo>
                  <a:pt x="1372" y="2174"/>
                  <a:pt x="1362" y="2175"/>
                  <a:pt x="1351" y="2177"/>
                </a:cubicBezTo>
                <a:cubicBezTo>
                  <a:pt x="1341" y="2179"/>
                  <a:pt x="1331" y="2181"/>
                  <a:pt x="1320" y="2183"/>
                </a:cubicBezTo>
                <a:cubicBezTo>
                  <a:pt x="1310" y="2184"/>
                  <a:pt x="1300" y="2185"/>
                  <a:pt x="1289" y="2186"/>
                </a:cubicBezTo>
                <a:cubicBezTo>
                  <a:pt x="1284" y="2187"/>
                  <a:pt x="1279" y="2188"/>
                  <a:pt x="1274" y="2188"/>
                </a:cubicBezTo>
                <a:cubicBezTo>
                  <a:pt x="1269" y="2189"/>
                  <a:pt x="1264" y="2189"/>
                  <a:pt x="1258" y="2190"/>
                </a:cubicBezTo>
                <a:cubicBezTo>
                  <a:pt x="1238" y="2191"/>
                  <a:pt x="1218" y="2193"/>
                  <a:pt x="1197" y="2193"/>
                </a:cubicBezTo>
                <a:cubicBezTo>
                  <a:pt x="1187" y="2194"/>
                  <a:pt x="1177" y="2194"/>
                  <a:pt x="1167" y="2194"/>
                </a:cubicBezTo>
                <a:cubicBezTo>
                  <a:pt x="1157" y="2194"/>
                  <a:pt x="1146" y="2194"/>
                  <a:pt x="1136" y="2194"/>
                </a:cubicBezTo>
                <a:cubicBezTo>
                  <a:pt x="1126" y="2194"/>
                  <a:pt x="1116" y="2193"/>
                  <a:pt x="1106" y="2192"/>
                </a:cubicBezTo>
                <a:cubicBezTo>
                  <a:pt x="1102" y="2192"/>
                  <a:pt x="1097" y="2192"/>
                  <a:pt x="1092" y="2191"/>
                </a:cubicBezTo>
                <a:cubicBezTo>
                  <a:pt x="1084" y="2191"/>
                  <a:pt x="1084" y="2191"/>
                  <a:pt x="1084" y="2191"/>
                </a:cubicBezTo>
                <a:cubicBezTo>
                  <a:pt x="1077" y="2190"/>
                  <a:pt x="1077" y="2190"/>
                  <a:pt x="1077" y="2190"/>
                </a:cubicBezTo>
                <a:cubicBezTo>
                  <a:pt x="1067" y="2189"/>
                  <a:pt x="1057" y="2188"/>
                  <a:pt x="1047" y="2187"/>
                </a:cubicBezTo>
                <a:cubicBezTo>
                  <a:pt x="1038" y="2186"/>
                  <a:pt x="1028" y="2185"/>
                  <a:pt x="1018" y="2183"/>
                </a:cubicBezTo>
                <a:cubicBezTo>
                  <a:pt x="1014" y="2183"/>
                  <a:pt x="1009" y="2182"/>
                  <a:pt x="1004" y="2181"/>
                </a:cubicBezTo>
                <a:cubicBezTo>
                  <a:pt x="999" y="2181"/>
                  <a:pt x="994" y="2180"/>
                  <a:pt x="990" y="2179"/>
                </a:cubicBezTo>
                <a:cubicBezTo>
                  <a:pt x="985" y="2178"/>
                  <a:pt x="980" y="2177"/>
                  <a:pt x="975" y="2176"/>
                </a:cubicBezTo>
                <a:cubicBezTo>
                  <a:pt x="971" y="2175"/>
                  <a:pt x="966" y="2175"/>
                  <a:pt x="961" y="2174"/>
                </a:cubicBezTo>
                <a:cubicBezTo>
                  <a:pt x="952" y="2172"/>
                  <a:pt x="943" y="2170"/>
                  <a:pt x="933" y="2167"/>
                </a:cubicBezTo>
                <a:cubicBezTo>
                  <a:pt x="929" y="2167"/>
                  <a:pt x="924" y="2165"/>
                  <a:pt x="920" y="2164"/>
                </a:cubicBezTo>
                <a:cubicBezTo>
                  <a:pt x="915" y="2163"/>
                  <a:pt x="910" y="2162"/>
                  <a:pt x="906" y="2161"/>
                </a:cubicBezTo>
                <a:cubicBezTo>
                  <a:pt x="901" y="2159"/>
                  <a:pt x="897" y="2158"/>
                  <a:pt x="892" y="2157"/>
                </a:cubicBezTo>
                <a:cubicBezTo>
                  <a:pt x="888" y="2156"/>
                  <a:pt x="883" y="2154"/>
                  <a:pt x="879" y="2153"/>
                </a:cubicBezTo>
                <a:cubicBezTo>
                  <a:pt x="870" y="2150"/>
                  <a:pt x="861" y="2148"/>
                  <a:pt x="852" y="2145"/>
                </a:cubicBezTo>
                <a:cubicBezTo>
                  <a:pt x="844" y="2142"/>
                  <a:pt x="835" y="2139"/>
                  <a:pt x="826" y="2136"/>
                </a:cubicBezTo>
                <a:cubicBezTo>
                  <a:pt x="822" y="2135"/>
                  <a:pt x="818" y="2133"/>
                  <a:pt x="813" y="2132"/>
                </a:cubicBezTo>
                <a:cubicBezTo>
                  <a:pt x="809" y="2130"/>
                  <a:pt x="805" y="2128"/>
                  <a:pt x="801" y="2127"/>
                </a:cubicBezTo>
                <a:cubicBezTo>
                  <a:pt x="792" y="2123"/>
                  <a:pt x="784" y="2120"/>
                  <a:pt x="775" y="2117"/>
                </a:cubicBezTo>
                <a:cubicBezTo>
                  <a:pt x="767" y="2113"/>
                  <a:pt x="759" y="2110"/>
                  <a:pt x="751" y="2106"/>
                </a:cubicBezTo>
                <a:cubicBezTo>
                  <a:pt x="743" y="2103"/>
                  <a:pt x="735" y="2099"/>
                  <a:pt x="727" y="2095"/>
                </a:cubicBezTo>
                <a:cubicBezTo>
                  <a:pt x="723" y="2093"/>
                  <a:pt x="719" y="2091"/>
                  <a:pt x="715" y="2089"/>
                </a:cubicBezTo>
                <a:cubicBezTo>
                  <a:pt x="709" y="2086"/>
                  <a:pt x="709" y="2086"/>
                  <a:pt x="709" y="2086"/>
                </a:cubicBezTo>
                <a:cubicBezTo>
                  <a:pt x="703" y="2083"/>
                  <a:pt x="703" y="2083"/>
                  <a:pt x="703" y="2083"/>
                </a:cubicBezTo>
                <a:cubicBezTo>
                  <a:pt x="696" y="2079"/>
                  <a:pt x="688" y="2075"/>
                  <a:pt x="680" y="2071"/>
                </a:cubicBezTo>
                <a:cubicBezTo>
                  <a:pt x="677" y="2069"/>
                  <a:pt x="673" y="2067"/>
                  <a:pt x="669" y="2065"/>
                </a:cubicBezTo>
                <a:cubicBezTo>
                  <a:pt x="665" y="2063"/>
                  <a:pt x="662" y="2061"/>
                  <a:pt x="658" y="2059"/>
                </a:cubicBezTo>
                <a:cubicBezTo>
                  <a:pt x="643" y="2051"/>
                  <a:pt x="629" y="2041"/>
                  <a:pt x="615" y="2033"/>
                </a:cubicBezTo>
                <a:cubicBezTo>
                  <a:pt x="610" y="2029"/>
                  <a:pt x="610" y="2029"/>
                  <a:pt x="610" y="2029"/>
                </a:cubicBezTo>
                <a:cubicBezTo>
                  <a:pt x="605" y="2026"/>
                  <a:pt x="605" y="2026"/>
                  <a:pt x="605" y="2026"/>
                </a:cubicBezTo>
                <a:cubicBezTo>
                  <a:pt x="601" y="2024"/>
                  <a:pt x="598" y="2021"/>
                  <a:pt x="594" y="2019"/>
                </a:cubicBezTo>
                <a:cubicBezTo>
                  <a:pt x="588" y="2014"/>
                  <a:pt x="581" y="2010"/>
                  <a:pt x="574" y="2005"/>
                </a:cubicBezTo>
                <a:cubicBezTo>
                  <a:pt x="522" y="1967"/>
                  <a:pt x="475" y="1927"/>
                  <a:pt x="435" y="1886"/>
                </a:cubicBezTo>
                <a:cubicBezTo>
                  <a:pt x="425" y="1875"/>
                  <a:pt x="415" y="1865"/>
                  <a:pt x="406" y="1854"/>
                </a:cubicBezTo>
                <a:cubicBezTo>
                  <a:pt x="403" y="1852"/>
                  <a:pt x="401" y="1849"/>
                  <a:pt x="399" y="1846"/>
                </a:cubicBezTo>
                <a:cubicBezTo>
                  <a:pt x="398" y="1845"/>
                  <a:pt x="397" y="1844"/>
                  <a:pt x="396" y="1843"/>
                </a:cubicBezTo>
                <a:cubicBezTo>
                  <a:pt x="394" y="1841"/>
                  <a:pt x="392" y="1839"/>
                  <a:pt x="391" y="1837"/>
                </a:cubicBezTo>
                <a:cubicBezTo>
                  <a:pt x="388" y="1833"/>
                  <a:pt x="385" y="1831"/>
                  <a:pt x="384" y="1829"/>
                </a:cubicBezTo>
                <a:cubicBezTo>
                  <a:pt x="382" y="1827"/>
                  <a:pt x="381" y="1826"/>
                  <a:pt x="381" y="1826"/>
                </a:cubicBezTo>
                <a:cubicBezTo>
                  <a:pt x="486" y="1739"/>
                  <a:pt x="486" y="1739"/>
                  <a:pt x="486" y="1739"/>
                </a:cubicBezTo>
                <a:cubicBezTo>
                  <a:pt x="368" y="1708"/>
                  <a:pt x="247" y="1648"/>
                  <a:pt x="138" y="1558"/>
                </a:cubicBezTo>
                <a:cubicBezTo>
                  <a:pt x="114" y="1697"/>
                  <a:pt x="119" y="1853"/>
                  <a:pt x="158" y="2011"/>
                </a:cubicBezTo>
                <a:cubicBezTo>
                  <a:pt x="263" y="1924"/>
                  <a:pt x="263" y="1924"/>
                  <a:pt x="263" y="1924"/>
                </a:cubicBezTo>
                <a:cubicBezTo>
                  <a:pt x="263" y="1924"/>
                  <a:pt x="264" y="1925"/>
                  <a:pt x="265" y="1928"/>
                </a:cubicBezTo>
                <a:cubicBezTo>
                  <a:pt x="267" y="1930"/>
                  <a:pt x="270" y="1933"/>
                  <a:pt x="274" y="1937"/>
                </a:cubicBezTo>
                <a:cubicBezTo>
                  <a:pt x="275" y="1939"/>
                  <a:pt x="277" y="1941"/>
                  <a:pt x="280" y="1944"/>
                </a:cubicBezTo>
                <a:cubicBezTo>
                  <a:pt x="281" y="1945"/>
                  <a:pt x="282" y="1946"/>
                  <a:pt x="283" y="1948"/>
                </a:cubicBezTo>
                <a:cubicBezTo>
                  <a:pt x="286" y="1951"/>
                  <a:pt x="288" y="1954"/>
                  <a:pt x="291" y="1957"/>
                </a:cubicBezTo>
                <a:cubicBezTo>
                  <a:pt x="302" y="1969"/>
                  <a:pt x="313" y="1981"/>
                  <a:pt x="325" y="1993"/>
                </a:cubicBezTo>
                <a:cubicBezTo>
                  <a:pt x="371" y="2040"/>
                  <a:pt x="424" y="2087"/>
                  <a:pt x="485" y="2131"/>
                </a:cubicBezTo>
                <a:cubicBezTo>
                  <a:pt x="492" y="2136"/>
                  <a:pt x="500" y="2141"/>
                  <a:pt x="508" y="2146"/>
                </a:cubicBezTo>
                <a:cubicBezTo>
                  <a:pt x="512" y="2149"/>
                  <a:pt x="516" y="2152"/>
                  <a:pt x="520" y="2154"/>
                </a:cubicBezTo>
                <a:cubicBezTo>
                  <a:pt x="526" y="2158"/>
                  <a:pt x="526" y="2158"/>
                  <a:pt x="526" y="2158"/>
                </a:cubicBezTo>
                <a:cubicBezTo>
                  <a:pt x="532" y="2162"/>
                  <a:pt x="532" y="2162"/>
                  <a:pt x="532" y="2162"/>
                </a:cubicBezTo>
                <a:cubicBezTo>
                  <a:pt x="548" y="2172"/>
                  <a:pt x="564" y="2183"/>
                  <a:pt x="581" y="2192"/>
                </a:cubicBezTo>
                <a:cubicBezTo>
                  <a:pt x="585" y="2195"/>
                  <a:pt x="590" y="2197"/>
                  <a:pt x="594" y="2200"/>
                </a:cubicBezTo>
                <a:cubicBezTo>
                  <a:pt x="598" y="2202"/>
                  <a:pt x="603" y="2205"/>
                  <a:pt x="607" y="2207"/>
                </a:cubicBezTo>
                <a:cubicBezTo>
                  <a:pt x="616" y="2211"/>
                  <a:pt x="625" y="2216"/>
                  <a:pt x="633" y="2221"/>
                </a:cubicBezTo>
                <a:cubicBezTo>
                  <a:pt x="640" y="2224"/>
                  <a:pt x="640" y="2224"/>
                  <a:pt x="640" y="2224"/>
                </a:cubicBezTo>
                <a:cubicBezTo>
                  <a:pt x="647" y="2227"/>
                  <a:pt x="647" y="2227"/>
                  <a:pt x="647" y="2227"/>
                </a:cubicBezTo>
                <a:cubicBezTo>
                  <a:pt x="651" y="2230"/>
                  <a:pt x="656" y="2232"/>
                  <a:pt x="660" y="2234"/>
                </a:cubicBezTo>
                <a:cubicBezTo>
                  <a:pt x="670" y="2238"/>
                  <a:pt x="679" y="2243"/>
                  <a:pt x="688" y="2247"/>
                </a:cubicBezTo>
                <a:cubicBezTo>
                  <a:pt x="698" y="2251"/>
                  <a:pt x="707" y="2255"/>
                  <a:pt x="716" y="2259"/>
                </a:cubicBezTo>
                <a:cubicBezTo>
                  <a:pt x="726" y="2263"/>
                  <a:pt x="736" y="2267"/>
                  <a:pt x="745" y="2270"/>
                </a:cubicBezTo>
                <a:cubicBezTo>
                  <a:pt x="750" y="2272"/>
                  <a:pt x="755" y="2274"/>
                  <a:pt x="760" y="2276"/>
                </a:cubicBezTo>
                <a:cubicBezTo>
                  <a:pt x="765" y="2278"/>
                  <a:pt x="770" y="2280"/>
                  <a:pt x="775" y="2281"/>
                </a:cubicBezTo>
                <a:cubicBezTo>
                  <a:pt x="785" y="2285"/>
                  <a:pt x="795" y="2288"/>
                  <a:pt x="805" y="2292"/>
                </a:cubicBezTo>
                <a:cubicBezTo>
                  <a:pt x="815" y="2295"/>
                  <a:pt x="825" y="2298"/>
                  <a:pt x="836" y="2301"/>
                </a:cubicBezTo>
                <a:cubicBezTo>
                  <a:pt x="841" y="2302"/>
                  <a:pt x="846" y="2304"/>
                  <a:pt x="851" y="2305"/>
                </a:cubicBezTo>
                <a:cubicBezTo>
                  <a:pt x="856" y="2307"/>
                  <a:pt x="862" y="2308"/>
                  <a:pt x="867" y="2310"/>
                </a:cubicBezTo>
                <a:cubicBezTo>
                  <a:pt x="872" y="2311"/>
                  <a:pt x="877" y="2312"/>
                  <a:pt x="883" y="2314"/>
                </a:cubicBezTo>
                <a:cubicBezTo>
                  <a:pt x="888" y="2315"/>
                  <a:pt x="893" y="2316"/>
                  <a:pt x="898" y="2318"/>
                </a:cubicBezTo>
                <a:cubicBezTo>
                  <a:pt x="909" y="2320"/>
                  <a:pt x="920" y="2322"/>
                  <a:pt x="931" y="2325"/>
                </a:cubicBezTo>
                <a:cubicBezTo>
                  <a:pt x="936" y="2326"/>
                  <a:pt x="941" y="2327"/>
                  <a:pt x="947" y="2328"/>
                </a:cubicBezTo>
                <a:cubicBezTo>
                  <a:pt x="952" y="2329"/>
                  <a:pt x="958" y="2330"/>
                  <a:pt x="963" y="2331"/>
                </a:cubicBezTo>
                <a:cubicBezTo>
                  <a:pt x="969" y="2332"/>
                  <a:pt x="974" y="2333"/>
                  <a:pt x="980" y="2334"/>
                </a:cubicBezTo>
                <a:cubicBezTo>
                  <a:pt x="985" y="2334"/>
                  <a:pt x="991" y="2335"/>
                  <a:pt x="996" y="2336"/>
                </a:cubicBezTo>
                <a:cubicBezTo>
                  <a:pt x="1007" y="2337"/>
                  <a:pt x="1018" y="2339"/>
                  <a:pt x="1030" y="2340"/>
                </a:cubicBezTo>
                <a:cubicBezTo>
                  <a:pt x="1041" y="2341"/>
                  <a:pt x="1052" y="2343"/>
                  <a:pt x="1063" y="2344"/>
                </a:cubicBezTo>
                <a:cubicBezTo>
                  <a:pt x="1072" y="2345"/>
                  <a:pt x="1072" y="2345"/>
                  <a:pt x="1072" y="2345"/>
                </a:cubicBezTo>
                <a:cubicBezTo>
                  <a:pt x="1081" y="2345"/>
                  <a:pt x="1081" y="2345"/>
                  <a:pt x="1081" y="2345"/>
                </a:cubicBezTo>
                <a:cubicBezTo>
                  <a:pt x="1086" y="2345"/>
                  <a:pt x="1092" y="2346"/>
                  <a:pt x="1098" y="2346"/>
                </a:cubicBezTo>
                <a:cubicBezTo>
                  <a:pt x="1109" y="2347"/>
                  <a:pt x="1121" y="2348"/>
                  <a:pt x="1132" y="2348"/>
                </a:cubicBezTo>
                <a:cubicBezTo>
                  <a:pt x="1144" y="2348"/>
                  <a:pt x="1155" y="2348"/>
                  <a:pt x="1167" y="2348"/>
                </a:cubicBezTo>
                <a:cubicBezTo>
                  <a:pt x="1178" y="2348"/>
                  <a:pt x="1190" y="2348"/>
                  <a:pt x="1202" y="2347"/>
                </a:cubicBezTo>
                <a:cubicBezTo>
                  <a:pt x="1225" y="2347"/>
                  <a:pt x="1249" y="2345"/>
                  <a:pt x="1272" y="2343"/>
                </a:cubicBezTo>
                <a:cubicBezTo>
                  <a:pt x="1278" y="2343"/>
                  <a:pt x="1284" y="2343"/>
                  <a:pt x="1290" y="2342"/>
                </a:cubicBezTo>
                <a:cubicBezTo>
                  <a:pt x="1296" y="2341"/>
                  <a:pt x="1302" y="2340"/>
                  <a:pt x="1308" y="2339"/>
                </a:cubicBezTo>
                <a:cubicBezTo>
                  <a:pt x="1320" y="2338"/>
                  <a:pt x="1331" y="2336"/>
                  <a:pt x="1343" y="2335"/>
                </a:cubicBezTo>
                <a:cubicBezTo>
                  <a:pt x="1355" y="2333"/>
                  <a:pt x="1367" y="2331"/>
                  <a:pt x="1379" y="2329"/>
                </a:cubicBezTo>
                <a:cubicBezTo>
                  <a:pt x="1391" y="2326"/>
                  <a:pt x="1403" y="2325"/>
                  <a:pt x="1415" y="2322"/>
                </a:cubicBezTo>
                <a:cubicBezTo>
                  <a:pt x="1427" y="2319"/>
                  <a:pt x="1438" y="2316"/>
                  <a:pt x="1450" y="2313"/>
                </a:cubicBezTo>
                <a:cubicBezTo>
                  <a:pt x="1459" y="2311"/>
                  <a:pt x="1459" y="2311"/>
                  <a:pt x="1459" y="2311"/>
                </a:cubicBezTo>
                <a:cubicBezTo>
                  <a:pt x="1468" y="2309"/>
                  <a:pt x="1468" y="2309"/>
                  <a:pt x="1468" y="2309"/>
                </a:cubicBezTo>
                <a:cubicBezTo>
                  <a:pt x="1474" y="2307"/>
                  <a:pt x="1480" y="2305"/>
                  <a:pt x="1486" y="2304"/>
                </a:cubicBezTo>
                <a:cubicBezTo>
                  <a:pt x="1533" y="2291"/>
                  <a:pt x="1580" y="2273"/>
                  <a:pt x="1626" y="2254"/>
                </a:cubicBezTo>
                <a:cubicBezTo>
                  <a:pt x="1638" y="2249"/>
                  <a:pt x="1649" y="2244"/>
                  <a:pt x="1661" y="2239"/>
                </a:cubicBezTo>
                <a:cubicBezTo>
                  <a:pt x="1667" y="2236"/>
                  <a:pt x="1672" y="2234"/>
                  <a:pt x="1678" y="2231"/>
                </a:cubicBezTo>
                <a:cubicBezTo>
                  <a:pt x="1684" y="2228"/>
                  <a:pt x="1689" y="2225"/>
                  <a:pt x="1695" y="2222"/>
                </a:cubicBezTo>
                <a:cubicBezTo>
                  <a:pt x="1706" y="2216"/>
                  <a:pt x="1718" y="2211"/>
                  <a:pt x="1729" y="2205"/>
                </a:cubicBezTo>
                <a:cubicBezTo>
                  <a:pt x="1740" y="2198"/>
                  <a:pt x="1751" y="2192"/>
                  <a:pt x="1762" y="2186"/>
                </a:cubicBezTo>
                <a:cubicBezTo>
                  <a:pt x="1767" y="2182"/>
                  <a:pt x="1773" y="2180"/>
                  <a:pt x="1778" y="2176"/>
                </a:cubicBezTo>
                <a:cubicBezTo>
                  <a:pt x="1784" y="2173"/>
                  <a:pt x="1789" y="2169"/>
                  <a:pt x="1795" y="2166"/>
                </a:cubicBezTo>
                <a:cubicBezTo>
                  <a:pt x="1800" y="2162"/>
                  <a:pt x="1805" y="2159"/>
                  <a:pt x="1811" y="2155"/>
                </a:cubicBezTo>
                <a:cubicBezTo>
                  <a:pt x="1816" y="2152"/>
                  <a:pt x="1822" y="2148"/>
                  <a:pt x="1827" y="2145"/>
                </a:cubicBezTo>
                <a:cubicBezTo>
                  <a:pt x="1848" y="2130"/>
                  <a:pt x="1869" y="2115"/>
                  <a:pt x="1889" y="2099"/>
                </a:cubicBezTo>
                <a:cubicBezTo>
                  <a:pt x="1905" y="2087"/>
                  <a:pt x="1905" y="2087"/>
                  <a:pt x="1905" y="2087"/>
                </a:cubicBezTo>
                <a:cubicBezTo>
                  <a:pt x="1912" y="2081"/>
                  <a:pt x="1912" y="2081"/>
                  <a:pt x="1912" y="2081"/>
                </a:cubicBezTo>
                <a:cubicBezTo>
                  <a:pt x="1915" y="2079"/>
                  <a:pt x="1917" y="2076"/>
                  <a:pt x="1920" y="2074"/>
                </a:cubicBezTo>
                <a:cubicBezTo>
                  <a:pt x="1930" y="2066"/>
                  <a:pt x="1939" y="2057"/>
                  <a:pt x="1949" y="2049"/>
                </a:cubicBezTo>
                <a:cubicBezTo>
                  <a:pt x="1952" y="2046"/>
                  <a:pt x="1954" y="2044"/>
                  <a:pt x="1957" y="2042"/>
                </a:cubicBezTo>
                <a:cubicBezTo>
                  <a:pt x="1964" y="2035"/>
                  <a:pt x="1964" y="2035"/>
                  <a:pt x="1964" y="2035"/>
                </a:cubicBezTo>
                <a:cubicBezTo>
                  <a:pt x="1978" y="2022"/>
                  <a:pt x="1978" y="2022"/>
                  <a:pt x="1978" y="2022"/>
                </a:cubicBezTo>
                <a:cubicBezTo>
                  <a:pt x="1987" y="2013"/>
                  <a:pt x="1997" y="2004"/>
                  <a:pt x="2006" y="1994"/>
                </a:cubicBezTo>
                <a:cubicBezTo>
                  <a:pt x="2015" y="1985"/>
                  <a:pt x="2024" y="1975"/>
                  <a:pt x="2033" y="1966"/>
                </a:cubicBezTo>
                <a:cubicBezTo>
                  <a:pt x="2042" y="1956"/>
                  <a:pt x="2050" y="1946"/>
                  <a:pt x="2059" y="1936"/>
                </a:cubicBezTo>
                <a:cubicBezTo>
                  <a:pt x="2072" y="1921"/>
                  <a:pt x="2072" y="1921"/>
                  <a:pt x="2072" y="1921"/>
                </a:cubicBezTo>
                <a:cubicBezTo>
                  <a:pt x="2084" y="1905"/>
                  <a:pt x="2084" y="1905"/>
                  <a:pt x="2084" y="1905"/>
                </a:cubicBezTo>
                <a:cubicBezTo>
                  <a:pt x="2093" y="1895"/>
                  <a:pt x="2101" y="1884"/>
                  <a:pt x="2109" y="1874"/>
                </a:cubicBezTo>
                <a:cubicBezTo>
                  <a:pt x="2124" y="1852"/>
                  <a:pt x="2140" y="1831"/>
                  <a:pt x="2154" y="1808"/>
                </a:cubicBezTo>
                <a:cubicBezTo>
                  <a:pt x="2165" y="1791"/>
                  <a:pt x="2165" y="1791"/>
                  <a:pt x="2165" y="1791"/>
                </a:cubicBezTo>
                <a:cubicBezTo>
                  <a:pt x="2170" y="1783"/>
                  <a:pt x="2170" y="1783"/>
                  <a:pt x="2170" y="1783"/>
                </a:cubicBezTo>
                <a:cubicBezTo>
                  <a:pt x="2175" y="1774"/>
                  <a:pt x="2175" y="1774"/>
                  <a:pt x="2175" y="1774"/>
                </a:cubicBezTo>
                <a:cubicBezTo>
                  <a:pt x="2182" y="1762"/>
                  <a:pt x="2189" y="1751"/>
                  <a:pt x="2195" y="1739"/>
                </a:cubicBezTo>
                <a:cubicBezTo>
                  <a:pt x="2199" y="1733"/>
                  <a:pt x="2202" y="1727"/>
                  <a:pt x="2205" y="1721"/>
                </a:cubicBezTo>
                <a:cubicBezTo>
                  <a:pt x="2214" y="1703"/>
                  <a:pt x="2214" y="1703"/>
                  <a:pt x="2214" y="1703"/>
                </a:cubicBezTo>
                <a:cubicBezTo>
                  <a:pt x="2223" y="1685"/>
                  <a:pt x="2223" y="1685"/>
                  <a:pt x="2223" y="1685"/>
                </a:cubicBezTo>
                <a:cubicBezTo>
                  <a:pt x="2226" y="1679"/>
                  <a:pt x="2229" y="1673"/>
                  <a:pt x="2232" y="1667"/>
                </a:cubicBezTo>
                <a:cubicBezTo>
                  <a:pt x="2237" y="1655"/>
                  <a:pt x="2243" y="1643"/>
                  <a:pt x="2248" y="1630"/>
                </a:cubicBezTo>
                <a:cubicBezTo>
                  <a:pt x="2253" y="1618"/>
                  <a:pt x="2258" y="1605"/>
                  <a:pt x="2263" y="1593"/>
                </a:cubicBezTo>
                <a:cubicBezTo>
                  <a:pt x="2267" y="1583"/>
                  <a:pt x="2267" y="1583"/>
                  <a:pt x="2267" y="1583"/>
                </a:cubicBezTo>
                <a:cubicBezTo>
                  <a:pt x="2268" y="1580"/>
                  <a:pt x="2269" y="1577"/>
                  <a:pt x="2270" y="1574"/>
                </a:cubicBezTo>
                <a:cubicBezTo>
                  <a:pt x="2277" y="1554"/>
                  <a:pt x="2277" y="1554"/>
                  <a:pt x="2277" y="1554"/>
                </a:cubicBezTo>
                <a:cubicBezTo>
                  <a:pt x="2283" y="1535"/>
                  <a:pt x="2283" y="1535"/>
                  <a:pt x="2283" y="1535"/>
                </a:cubicBezTo>
                <a:cubicBezTo>
                  <a:pt x="2286" y="1529"/>
                  <a:pt x="2288" y="1522"/>
                  <a:pt x="2289" y="1516"/>
                </a:cubicBezTo>
                <a:cubicBezTo>
                  <a:pt x="2293" y="1503"/>
                  <a:pt x="2297" y="1490"/>
                  <a:pt x="2301" y="1477"/>
                </a:cubicBezTo>
                <a:cubicBezTo>
                  <a:pt x="2303" y="1467"/>
                  <a:pt x="2303" y="1467"/>
                  <a:pt x="2303" y="1467"/>
                </a:cubicBezTo>
                <a:cubicBezTo>
                  <a:pt x="2306" y="1457"/>
                  <a:pt x="2306" y="1457"/>
                  <a:pt x="2306" y="1457"/>
                </a:cubicBezTo>
                <a:cubicBezTo>
                  <a:pt x="2310" y="1437"/>
                  <a:pt x="2310" y="1437"/>
                  <a:pt x="2310" y="1437"/>
                </a:cubicBezTo>
                <a:cubicBezTo>
                  <a:pt x="2317" y="1411"/>
                  <a:pt x="2321" y="1384"/>
                  <a:pt x="2326" y="1357"/>
                </a:cubicBezTo>
                <a:cubicBezTo>
                  <a:pt x="2327" y="1354"/>
                  <a:pt x="2327" y="1350"/>
                  <a:pt x="2327" y="1347"/>
                </a:cubicBezTo>
                <a:cubicBezTo>
                  <a:pt x="2329" y="1337"/>
                  <a:pt x="2329" y="1337"/>
                  <a:pt x="2329" y="1337"/>
                </a:cubicBezTo>
                <a:cubicBezTo>
                  <a:pt x="2331" y="1317"/>
                  <a:pt x="2331" y="1317"/>
                  <a:pt x="2331" y="1317"/>
                </a:cubicBezTo>
                <a:cubicBezTo>
                  <a:pt x="2334" y="1296"/>
                  <a:pt x="2334" y="1296"/>
                  <a:pt x="2334" y="1296"/>
                </a:cubicBezTo>
                <a:cubicBezTo>
                  <a:pt x="2335" y="1290"/>
                  <a:pt x="2335" y="1283"/>
                  <a:pt x="2336" y="1276"/>
                </a:cubicBezTo>
                <a:cubicBezTo>
                  <a:pt x="2339" y="1235"/>
                  <a:pt x="2339" y="1235"/>
                  <a:pt x="2339" y="1235"/>
                </a:cubicBezTo>
                <a:cubicBezTo>
                  <a:pt x="2340" y="1195"/>
                  <a:pt x="2340" y="1195"/>
                  <a:pt x="2340" y="1195"/>
                </a:cubicBezTo>
                <a:cubicBezTo>
                  <a:pt x="2340" y="1174"/>
                  <a:pt x="2340" y="1174"/>
                  <a:pt x="2340" y="1174"/>
                </a:cubicBezTo>
                <a:cubicBezTo>
                  <a:pt x="2340" y="1154"/>
                  <a:pt x="2340" y="1154"/>
                  <a:pt x="2340" y="1154"/>
                </a:cubicBezTo>
                <a:cubicBezTo>
                  <a:pt x="2339" y="1113"/>
                  <a:pt x="2339" y="1113"/>
                  <a:pt x="2339" y="1113"/>
                </a:cubicBezTo>
                <a:cubicBezTo>
                  <a:pt x="2336" y="1072"/>
                  <a:pt x="2336" y="1072"/>
                  <a:pt x="2336" y="1072"/>
                </a:cubicBezTo>
                <a:cubicBezTo>
                  <a:pt x="2335" y="1066"/>
                  <a:pt x="2335" y="1059"/>
                  <a:pt x="2334" y="1052"/>
                </a:cubicBezTo>
                <a:cubicBezTo>
                  <a:pt x="2331" y="1032"/>
                  <a:pt x="2331" y="1032"/>
                  <a:pt x="2331" y="1032"/>
                </a:cubicBezTo>
                <a:cubicBezTo>
                  <a:pt x="2330" y="1018"/>
                  <a:pt x="2328" y="1005"/>
                  <a:pt x="2326" y="991"/>
                </a:cubicBezTo>
                <a:cubicBezTo>
                  <a:pt x="2319" y="951"/>
                  <a:pt x="2319" y="951"/>
                  <a:pt x="2319" y="951"/>
                </a:cubicBezTo>
                <a:cubicBezTo>
                  <a:pt x="2317" y="938"/>
                  <a:pt x="2313" y="924"/>
                  <a:pt x="2310" y="911"/>
                </a:cubicBezTo>
                <a:cubicBezTo>
                  <a:pt x="2306" y="891"/>
                  <a:pt x="2306" y="891"/>
                  <a:pt x="2306" y="891"/>
                </a:cubicBezTo>
                <a:cubicBezTo>
                  <a:pt x="2303" y="881"/>
                  <a:pt x="2303" y="881"/>
                  <a:pt x="2303" y="881"/>
                </a:cubicBezTo>
                <a:cubicBezTo>
                  <a:pt x="2301" y="871"/>
                  <a:pt x="2301" y="871"/>
                  <a:pt x="2301" y="871"/>
                </a:cubicBezTo>
                <a:cubicBezTo>
                  <a:pt x="2289" y="832"/>
                  <a:pt x="2289" y="832"/>
                  <a:pt x="2289" y="832"/>
                </a:cubicBezTo>
                <a:cubicBezTo>
                  <a:pt x="2288" y="826"/>
                  <a:pt x="2285" y="819"/>
                  <a:pt x="2283" y="813"/>
                </a:cubicBezTo>
                <a:cubicBezTo>
                  <a:pt x="2277" y="793"/>
                  <a:pt x="2277" y="793"/>
                  <a:pt x="2277" y="793"/>
                </a:cubicBezTo>
                <a:cubicBezTo>
                  <a:pt x="2270" y="774"/>
                  <a:pt x="2270" y="774"/>
                  <a:pt x="2270" y="774"/>
                </a:cubicBezTo>
                <a:cubicBezTo>
                  <a:pt x="2268" y="768"/>
                  <a:pt x="2265" y="762"/>
                  <a:pt x="2263" y="755"/>
                </a:cubicBezTo>
                <a:cubicBezTo>
                  <a:pt x="2258" y="743"/>
                  <a:pt x="2253" y="730"/>
                  <a:pt x="2248" y="717"/>
                </a:cubicBezTo>
                <a:cubicBezTo>
                  <a:pt x="2242" y="705"/>
                  <a:pt x="2237" y="693"/>
                  <a:pt x="2231" y="680"/>
                </a:cubicBezTo>
                <a:cubicBezTo>
                  <a:pt x="2229" y="674"/>
                  <a:pt x="2226" y="668"/>
                  <a:pt x="2223" y="662"/>
                </a:cubicBezTo>
                <a:cubicBezTo>
                  <a:pt x="2214" y="644"/>
                  <a:pt x="2214" y="644"/>
                  <a:pt x="2214" y="644"/>
                </a:cubicBezTo>
                <a:cubicBezTo>
                  <a:pt x="2204" y="626"/>
                  <a:pt x="2204" y="626"/>
                  <a:pt x="2204" y="626"/>
                </a:cubicBezTo>
                <a:cubicBezTo>
                  <a:pt x="2201" y="620"/>
                  <a:pt x="2198" y="614"/>
                  <a:pt x="2195" y="608"/>
                </a:cubicBezTo>
                <a:cubicBezTo>
                  <a:pt x="2188" y="596"/>
                  <a:pt x="2181" y="585"/>
                  <a:pt x="2175" y="573"/>
                </a:cubicBezTo>
                <a:cubicBezTo>
                  <a:pt x="2173" y="570"/>
                  <a:pt x="2171" y="567"/>
                  <a:pt x="2170" y="564"/>
                </a:cubicBezTo>
                <a:cubicBezTo>
                  <a:pt x="2164" y="556"/>
                  <a:pt x="2164" y="556"/>
                  <a:pt x="2164" y="556"/>
                </a:cubicBezTo>
                <a:cubicBezTo>
                  <a:pt x="2153" y="539"/>
                  <a:pt x="2153" y="539"/>
                  <a:pt x="2153" y="539"/>
                </a:cubicBezTo>
                <a:cubicBezTo>
                  <a:pt x="2142" y="522"/>
                  <a:pt x="2142" y="522"/>
                  <a:pt x="2142" y="522"/>
                </a:cubicBezTo>
                <a:cubicBezTo>
                  <a:pt x="2140" y="518"/>
                  <a:pt x="2140" y="518"/>
                  <a:pt x="2140" y="518"/>
                </a:cubicBezTo>
                <a:cubicBezTo>
                  <a:pt x="2137" y="513"/>
                  <a:pt x="2137" y="513"/>
                  <a:pt x="2137" y="513"/>
                </a:cubicBezTo>
                <a:cubicBezTo>
                  <a:pt x="2131" y="505"/>
                  <a:pt x="2131" y="505"/>
                  <a:pt x="2131" y="505"/>
                </a:cubicBezTo>
                <a:cubicBezTo>
                  <a:pt x="2123" y="494"/>
                  <a:pt x="2115" y="483"/>
                  <a:pt x="2108" y="473"/>
                </a:cubicBezTo>
                <a:cubicBezTo>
                  <a:pt x="2100" y="462"/>
                  <a:pt x="2091" y="451"/>
                  <a:pt x="2083" y="441"/>
                </a:cubicBezTo>
                <a:cubicBezTo>
                  <a:pt x="2079" y="436"/>
                  <a:pt x="2075" y="430"/>
                  <a:pt x="2071" y="425"/>
                </a:cubicBezTo>
                <a:cubicBezTo>
                  <a:pt x="2057" y="410"/>
                  <a:pt x="2057" y="410"/>
                  <a:pt x="2057" y="410"/>
                </a:cubicBezTo>
                <a:cubicBezTo>
                  <a:pt x="2044" y="395"/>
                  <a:pt x="2044" y="395"/>
                  <a:pt x="2044" y="395"/>
                </a:cubicBezTo>
                <a:cubicBezTo>
                  <a:pt x="2040" y="390"/>
                  <a:pt x="2036" y="385"/>
                  <a:pt x="2031" y="380"/>
                </a:cubicBezTo>
                <a:cubicBezTo>
                  <a:pt x="2022" y="371"/>
                  <a:pt x="2013" y="361"/>
                  <a:pt x="2004" y="351"/>
                </a:cubicBezTo>
                <a:cubicBezTo>
                  <a:pt x="1997" y="344"/>
                  <a:pt x="1997" y="344"/>
                  <a:pt x="1997" y="344"/>
                </a:cubicBezTo>
                <a:cubicBezTo>
                  <a:pt x="1990" y="337"/>
                  <a:pt x="1990" y="337"/>
                  <a:pt x="1990" y="337"/>
                </a:cubicBezTo>
                <a:cubicBezTo>
                  <a:pt x="1975" y="324"/>
                  <a:pt x="1975" y="324"/>
                  <a:pt x="1975" y="324"/>
                </a:cubicBezTo>
                <a:cubicBezTo>
                  <a:pt x="1956" y="305"/>
                  <a:pt x="1936" y="288"/>
                  <a:pt x="1916" y="271"/>
                </a:cubicBezTo>
                <a:cubicBezTo>
                  <a:pt x="1914" y="269"/>
                  <a:pt x="1911" y="267"/>
                  <a:pt x="1909" y="265"/>
                </a:cubicBezTo>
                <a:cubicBezTo>
                  <a:pt x="1901" y="259"/>
                  <a:pt x="1901" y="259"/>
                  <a:pt x="1901" y="259"/>
                </a:cubicBezTo>
                <a:cubicBezTo>
                  <a:pt x="1886" y="246"/>
                  <a:pt x="1886" y="246"/>
                  <a:pt x="1886" y="246"/>
                </a:cubicBezTo>
                <a:cubicBezTo>
                  <a:pt x="1870" y="234"/>
                  <a:pt x="1870" y="234"/>
                  <a:pt x="1870" y="234"/>
                </a:cubicBezTo>
                <a:cubicBezTo>
                  <a:pt x="1865" y="230"/>
                  <a:pt x="1859" y="227"/>
                  <a:pt x="1854" y="223"/>
                </a:cubicBezTo>
                <a:cubicBezTo>
                  <a:pt x="1844" y="215"/>
                  <a:pt x="1833" y="208"/>
                  <a:pt x="1822" y="200"/>
                </a:cubicBezTo>
                <a:cubicBezTo>
                  <a:pt x="1811" y="193"/>
                  <a:pt x="1800" y="186"/>
                  <a:pt x="1789" y="179"/>
                </a:cubicBezTo>
                <a:cubicBezTo>
                  <a:pt x="1784" y="176"/>
                  <a:pt x="1779" y="172"/>
                  <a:pt x="1773" y="169"/>
                </a:cubicBezTo>
                <a:cubicBezTo>
                  <a:pt x="1756" y="159"/>
                  <a:pt x="1756" y="159"/>
                  <a:pt x="1756" y="159"/>
                </a:cubicBezTo>
                <a:cubicBezTo>
                  <a:pt x="1745" y="153"/>
                  <a:pt x="1734" y="146"/>
                  <a:pt x="1723" y="140"/>
                </a:cubicBezTo>
                <a:cubicBezTo>
                  <a:pt x="1711" y="134"/>
                  <a:pt x="1700" y="128"/>
                  <a:pt x="1688" y="122"/>
                </a:cubicBezTo>
                <a:cubicBezTo>
                  <a:pt x="1680" y="118"/>
                  <a:pt x="1680" y="118"/>
                  <a:pt x="1680" y="118"/>
                </a:cubicBezTo>
                <a:cubicBezTo>
                  <a:pt x="1677" y="117"/>
                  <a:pt x="1674" y="115"/>
                  <a:pt x="1671" y="114"/>
                </a:cubicBezTo>
                <a:cubicBezTo>
                  <a:pt x="1665" y="111"/>
                  <a:pt x="1659" y="109"/>
                  <a:pt x="1654" y="106"/>
                </a:cubicBezTo>
                <a:cubicBezTo>
                  <a:pt x="1648" y="103"/>
                  <a:pt x="1642" y="101"/>
                  <a:pt x="1636" y="98"/>
                </a:cubicBezTo>
                <a:cubicBezTo>
                  <a:pt x="1627" y="94"/>
                  <a:pt x="1627" y="94"/>
                  <a:pt x="1627" y="94"/>
                </a:cubicBezTo>
                <a:cubicBezTo>
                  <a:pt x="1623" y="92"/>
                  <a:pt x="1623" y="92"/>
                  <a:pt x="1623" y="92"/>
                </a:cubicBezTo>
                <a:cubicBezTo>
                  <a:pt x="1619" y="90"/>
                  <a:pt x="1619" y="90"/>
                  <a:pt x="1619" y="90"/>
                </a:cubicBezTo>
                <a:cubicBezTo>
                  <a:pt x="1607" y="86"/>
                  <a:pt x="1595" y="81"/>
                  <a:pt x="1583" y="76"/>
                </a:cubicBezTo>
                <a:cubicBezTo>
                  <a:pt x="1574" y="73"/>
                  <a:pt x="1574" y="73"/>
                  <a:pt x="1574" y="73"/>
                </a:cubicBezTo>
                <a:cubicBezTo>
                  <a:pt x="1571" y="72"/>
                  <a:pt x="1569" y="71"/>
                  <a:pt x="1566" y="70"/>
                </a:cubicBezTo>
                <a:cubicBezTo>
                  <a:pt x="1560" y="68"/>
                  <a:pt x="1554" y="66"/>
                  <a:pt x="1548" y="64"/>
                </a:cubicBezTo>
                <a:cubicBezTo>
                  <a:pt x="1536" y="60"/>
                  <a:pt x="1524" y="55"/>
                  <a:pt x="1512" y="52"/>
                </a:cubicBezTo>
                <a:cubicBezTo>
                  <a:pt x="1500" y="48"/>
                  <a:pt x="1488" y="45"/>
                  <a:pt x="1476" y="41"/>
                </a:cubicBezTo>
                <a:cubicBezTo>
                  <a:pt x="1470" y="40"/>
                  <a:pt x="1464" y="38"/>
                  <a:pt x="1458" y="36"/>
                </a:cubicBezTo>
                <a:cubicBezTo>
                  <a:pt x="1452" y="35"/>
                  <a:pt x="1445" y="34"/>
                  <a:pt x="1439" y="32"/>
                </a:cubicBezTo>
                <a:cubicBezTo>
                  <a:pt x="1427" y="29"/>
                  <a:pt x="1415" y="27"/>
                  <a:pt x="1403" y="24"/>
                </a:cubicBezTo>
                <a:cubicBezTo>
                  <a:pt x="1391" y="22"/>
                  <a:pt x="1379" y="19"/>
                  <a:pt x="1367" y="17"/>
                </a:cubicBezTo>
                <a:cubicBezTo>
                  <a:pt x="1361" y="16"/>
                  <a:pt x="1355" y="15"/>
                  <a:pt x="1349" y="14"/>
                </a:cubicBezTo>
                <a:cubicBezTo>
                  <a:pt x="1343" y="13"/>
                  <a:pt x="1337" y="12"/>
                  <a:pt x="1330" y="12"/>
                </a:cubicBezTo>
                <a:cubicBezTo>
                  <a:pt x="1318" y="10"/>
                  <a:pt x="1306" y="8"/>
                  <a:pt x="1294" y="7"/>
                </a:cubicBezTo>
                <a:cubicBezTo>
                  <a:pt x="1291" y="7"/>
                  <a:pt x="1288" y="6"/>
                  <a:pt x="1285" y="6"/>
                </a:cubicBezTo>
                <a:cubicBezTo>
                  <a:pt x="1276" y="5"/>
                  <a:pt x="1276" y="5"/>
                  <a:pt x="1276" y="5"/>
                </a:cubicBezTo>
                <a:cubicBezTo>
                  <a:pt x="1270" y="5"/>
                  <a:pt x="1264" y="4"/>
                  <a:pt x="1258" y="4"/>
                </a:cubicBezTo>
                <a:cubicBezTo>
                  <a:pt x="1252" y="3"/>
                  <a:pt x="1246" y="3"/>
                  <a:pt x="1240" y="2"/>
                </a:cubicBezTo>
                <a:cubicBezTo>
                  <a:pt x="1231" y="2"/>
                  <a:pt x="1231" y="2"/>
                  <a:pt x="1231" y="2"/>
                </a:cubicBezTo>
                <a:cubicBezTo>
                  <a:pt x="1226" y="1"/>
                  <a:pt x="1226" y="1"/>
                  <a:pt x="1226" y="1"/>
                </a:cubicBezTo>
                <a:cubicBezTo>
                  <a:pt x="1222" y="1"/>
                  <a:pt x="1222" y="1"/>
                  <a:pt x="1222" y="1"/>
                </a:cubicBezTo>
                <a:cubicBezTo>
                  <a:pt x="1210" y="1"/>
                  <a:pt x="1198" y="1"/>
                  <a:pt x="1186" y="0"/>
                </a:cubicBezTo>
                <a:cubicBezTo>
                  <a:pt x="1180" y="0"/>
                  <a:pt x="1174" y="0"/>
                  <a:pt x="1168" y="0"/>
                </a:cubicBezTo>
                <a:cubicBezTo>
                  <a:pt x="1162" y="0"/>
                  <a:pt x="1156" y="0"/>
                  <a:pt x="1150" y="0"/>
                </a:cubicBezTo>
                <a:cubicBezTo>
                  <a:pt x="1139" y="0"/>
                  <a:pt x="1127" y="1"/>
                  <a:pt x="1115" y="1"/>
                </a:cubicBezTo>
                <a:cubicBezTo>
                  <a:pt x="1109" y="1"/>
                  <a:pt x="1103" y="2"/>
                  <a:pt x="1097" y="2"/>
                </a:cubicBezTo>
                <a:cubicBezTo>
                  <a:pt x="1092" y="2"/>
                  <a:pt x="1086" y="3"/>
                  <a:pt x="1080" y="3"/>
                </a:cubicBezTo>
                <a:cubicBezTo>
                  <a:pt x="1074" y="4"/>
                  <a:pt x="1068" y="4"/>
                  <a:pt x="1062" y="4"/>
                </a:cubicBezTo>
                <a:cubicBezTo>
                  <a:pt x="1059" y="5"/>
                  <a:pt x="1057" y="5"/>
                  <a:pt x="1054" y="5"/>
                </a:cubicBezTo>
                <a:cubicBezTo>
                  <a:pt x="1045" y="6"/>
                  <a:pt x="1045" y="6"/>
                  <a:pt x="1045" y="6"/>
                </a:cubicBezTo>
                <a:cubicBezTo>
                  <a:pt x="1033" y="8"/>
                  <a:pt x="1022" y="9"/>
                  <a:pt x="1010" y="10"/>
                </a:cubicBezTo>
                <a:cubicBezTo>
                  <a:pt x="999" y="11"/>
                  <a:pt x="988" y="14"/>
                  <a:pt x="976" y="15"/>
                </a:cubicBezTo>
                <a:cubicBezTo>
                  <a:pt x="965" y="17"/>
                  <a:pt x="954" y="19"/>
                  <a:pt x="943" y="21"/>
                </a:cubicBezTo>
                <a:cubicBezTo>
                  <a:pt x="931" y="24"/>
                  <a:pt x="920" y="26"/>
                  <a:pt x="909" y="28"/>
                </a:cubicBezTo>
                <a:cubicBezTo>
                  <a:pt x="904" y="29"/>
                  <a:pt x="898" y="31"/>
                  <a:pt x="893" y="32"/>
                </a:cubicBezTo>
                <a:cubicBezTo>
                  <a:pt x="887" y="33"/>
                  <a:pt x="882" y="35"/>
                  <a:pt x="876" y="36"/>
                </a:cubicBezTo>
                <a:cubicBezTo>
                  <a:pt x="866" y="39"/>
                  <a:pt x="855" y="42"/>
                  <a:pt x="844" y="45"/>
                </a:cubicBezTo>
                <a:cubicBezTo>
                  <a:pt x="833" y="48"/>
                  <a:pt x="823" y="51"/>
                  <a:pt x="812" y="54"/>
                </a:cubicBezTo>
                <a:cubicBezTo>
                  <a:pt x="791" y="60"/>
                  <a:pt x="771" y="68"/>
                  <a:pt x="750" y="76"/>
                </a:cubicBezTo>
                <a:cubicBezTo>
                  <a:pt x="740" y="79"/>
                  <a:pt x="730" y="84"/>
                  <a:pt x="720" y="88"/>
                </a:cubicBezTo>
                <a:cubicBezTo>
                  <a:pt x="710" y="92"/>
                  <a:pt x="701" y="96"/>
                  <a:pt x="691" y="100"/>
                </a:cubicBezTo>
                <a:cubicBezTo>
                  <a:pt x="681" y="104"/>
                  <a:pt x="672" y="109"/>
                  <a:pt x="662" y="113"/>
                </a:cubicBezTo>
                <a:cubicBezTo>
                  <a:pt x="653" y="118"/>
                  <a:pt x="643" y="122"/>
                  <a:pt x="634" y="127"/>
                </a:cubicBezTo>
                <a:cubicBezTo>
                  <a:pt x="615" y="137"/>
                  <a:pt x="597" y="146"/>
                  <a:pt x="579" y="157"/>
                </a:cubicBezTo>
                <a:cubicBezTo>
                  <a:pt x="509" y="198"/>
                  <a:pt x="445" y="244"/>
                  <a:pt x="389" y="294"/>
                </a:cubicBezTo>
                <a:cubicBezTo>
                  <a:pt x="333" y="343"/>
                  <a:pt x="285" y="395"/>
                  <a:pt x="244" y="447"/>
                </a:cubicBezTo>
                <a:cubicBezTo>
                  <a:pt x="203" y="499"/>
                  <a:pt x="169" y="551"/>
                  <a:pt x="141" y="601"/>
                </a:cubicBezTo>
                <a:cubicBezTo>
                  <a:pt x="126" y="626"/>
                  <a:pt x="115" y="651"/>
                  <a:pt x="103" y="675"/>
                </a:cubicBezTo>
                <a:cubicBezTo>
                  <a:pt x="92" y="699"/>
                  <a:pt x="82" y="722"/>
                  <a:pt x="73" y="744"/>
                </a:cubicBezTo>
                <a:cubicBezTo>
                  <a:pt x="38" y="833"/>
                  <a:pt x="21" y="906"/>
                  <a:pt x="12" y="957"/>
                </a:cubicBezTo>
                <a:cubicBezTo>
                  <a:pt x="7" y="982"/>
                  <a:pt x="5" y="1001"/>
                  <a:pt x="3" y="1014"/>
                </a:cubicBezTo>
                <a:cubicBezTo>
                  <a:pt x="1" y="1027"/>
                  <a:pt x="0" y="1034"/>
                  <a:pt x="0" y="1034"/>
                </a:cubicBezTo>
                <a:lnTo>
                  <a:pt x="153" y="105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sym typeface="Arial" panose="020B0704020202020204" pitchFamily="34" charset="0"/>
            </a:endParaRPr>
          </a:p>
        </p:txBody>
      </p:sp>
      <p:sp>
        <p:nvSpPr>
          <p:cNvPr id="69" name="文本框 21">
            <a:extLst>
              <a:ext uri="{FF2B5EF4-FFF2-40B4-BE49-F238E27FC236}">
                <a16:creationId xmlns:a16="http://schemas.microsoft.com/office/drawing/2014/main" id="{48B82BB8-E759-3248-DE99-607A1894047A}"/>
              </a:ext>
            </a:extLst>
          </p:cNvPr>
          <p:cNvSpPr txBox="1"/>
          <p:nvPr/>
        </p:nvSpPr>
        <p:spPr>
          <a:xfrm>
            <a:off x="8232626" y="4598650"/>
            <a:ext cx="3169920" cy="1756410"/>
          </a:xfrm>
          <a:prstGeom prst="rect">
            <a:avLst/>
          </a:prstGeom>
          <a:noFill/>
        </p:spPr>
        <p:txBody>
          <a:bodyPr wrap="square" lIns="90000" tIns="46800" rIns="90000" bIns="4680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spc="300" dirty="0">
                <a:solidFill>
                  <a:srgbClr val="1D54A6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即时联络反馈</a:t>
            </a:r>
            <a:endParaRPr lang="en-US" altLang="zh-CN" sz="2000" b="1" spc="300" dirty="0">
              <a:solidFill>
                <a:srgbClr val="1D54A6"/>
              </a:solidFill>
              <a:latin typeface="Noto Sans SC Medium" panose="020B0200000000000000" pitchFamily="34" charset="-122"/>
              <a:ea typeface="Noto Sans SC Medium" panose="020B0200000000000000" pitchFamily="34" charset="-122"/>
              <a:cs typeface="+mn-ea"/>
              <a:sym typeface="Arial" panose="020B07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000" spc="150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微软雅黑" panose="020B0503020204020204" charset="-122"/>
                <a:sym typeface="Arial" panose="020B0704020202020204" pitchFamily="34" charset="0"/>
              </a:rPr>
              <a:t>家属可掌握使用者的实时情况</a:t>
            </a:r>
            <a:r>
              <a:rPr lang="en-US" altLang="zh-CN" sz="2000" spc="150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微软雅黑" panose="020B0503020204020204" charset="-122"/>
                <a:sym typeface="Arial" panose="020B0704020202020204" pitchFamily="34" charset="0"/>
              </a:rPr>
              <a:t>，</a:t>
            </a:r>
            <a:r>
              <a:rPr lang="zh-CN" altLang="en-US" sz="2000" spc="150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微软雅黑" panose="020B0503020204020204" charset="-122"/>
                <a:sym typeface="Arial" panose="020B0704020202020204" pitchFamily="34" charset="0"/>
              </a:rPr>
              <a:t>且可立即同视障人士进行联络，视障人士可立即收到信息。</a:t>
            </a:r>
            <a:endParaRPr lang="zh-CN" altLang="en-US" sz="2000" b="0" i="0" dirty="0">
              <a:solidFill>
                <a:srgbClr val="1C1F23"/>
              </a:solidFill>
              <a:effectLst/>
              <a:latin typeface="+mj-ea"/>
              <a:ea typeface="+mj-ea"/>
            </a:endParaRPr>
          </a:p>
        </p:txBody>
      </p:sp>
      <p:sp>
        <p:nvSpPr>
          <p:cNvPr id="70" name="文本框 7">
            <a:extLst>
              <a:ext uri="{FF2B5EF4-FFF2-40B4-BE49-F238E27FC236}">
                <a16:creationId xmlns:a16="http://schemas.microsoft.com/office/drawing/2014/main" id="{2753B478-CFAF-3D41-7899-68C8E283C886}"/>
              </a:ext>
            </a:extLst>
          </p:cNvPr>
          <p:cNvSpPr txBox="1"/>
          <p:nvPr/>
        </p:nvSpPr>
        <p:spPr>
          <a:xfrm>
            <a:off x="3819565" y="3065825"/>
            <a:ext cx="2016000" cy="440121"/>
          </a:xfrm>
          <a:prstGeom prst="rect">
            <a:avLst/>
          </a:prstGeom>
          <a:solidFill>
            <a:srgbClr val="48599F"/>
          </a:solidFill>
        </p:spPr>
        <p:txBody>
          <a:bodyPr wrap="squar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+mn-lt"/>
              </a:rPr>
              <a:t>探测全面性</a:t>
            </a:r>
          </a:p>
        </p:txBody>
      </p:sp>
      <p:sp>
        <p:nvSpPr>
          <p:cNvPr id="71" name="文本框 11">
            <a:extLst>
              <a:ext uri="{FF2B5EF4-FFF2-40B4-BE49-F238E27FC236}">
                <a16:creationId xmlns:a16="http://schemas.microsoft.com/office/drawing/2014/main" id="{A0E3522C-CC53-3EBB-9AB2-3AC53DC4DB59}"/>
              </a:ext>
            </a:extLst>
          </p:cNvPr>
          <p:cNvSpPr txBox="1"/>
          <p:nvPr/>
        </p:nvSpPr>
        <p:spPr>
          <a:xfrm>
            <a:off x="6548733" y="1649355"/>
            <a:ext cx="2016000" cy="440121"/>
          </a:xfrm>
          <a:prstGeom prst="rect">
            <a:avLst/>
          </a:prstGeom>
          <a:solidFill>
            <a:schemeClr val="accent2"/>
          </a:solidFill>
        </p:spPr>
        <p:txBody>
          <a:bodyPr wrap="squar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spc="300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引航有效化</a:t>
            </a:r>
          </a:p>
        </p:txBody>
      </p:sp>
      <p:sp>
        <p:nvSpPr>
          <p:cNvPr id="72" name="文本框 12">
            <a:extLst>
              <a:ext uri="{FF2B5EF4-FFF2-40B4-BE49-F238E27FC236}">
                <a16:creationId xmlns:a16="http://schemas.microsoft.com/office/drawing/2014/main" id="{2CB08201-E702-75CF-7ACF-323BAB48641F}"/>
              </a:ext>
            </a:extLst>
          </p:cNvPr>
          <p:cNvSpPr txBox="1"/>
          <p:nvPr/>
        </p:nvSpPr>
        <p:spPr>
          <a:xfrm>
            <a:off x="4532737" y="4803729"/>
            <a:ext cx="2016000" cy="440121"/>
          </a:xfrm>
          <a:prstGeom prst="rect">
            <a:avLst/>
          </a:prstGeom>
          <a:solidFill>
            <a:srgbClr val="1D54A6"/>
          </a:solidFill>
        </p:spPr>
        <p:txBody>
          <a:bodyPr wrap="square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spc="300" dirty="0">
                <a:solidFill>
                  <a:schemeClr val="lt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播报个性化</a:t>
            </a:r>
          </a:p>
        </p:txBody>
      </p:sp>
      <p:sp>
        <p:nvSpPr>
          <p:cNvPr id="73" name="文本框 19">
            <a:extLst>
              <a:ext uri="{FF2B5EF4-FFF2-40B4-BE49-F238E27FC236}">
                <a16:creationId xmlns:a16="http://schemas.microsoft.com/office/drawing/2014/main" id="{F8CA9D5A-A0A9-66CE-A68F-4849CDCB848D}"/>
              </a:ext>
            </a:extLst>
          </p:cNvPr>
          <p:cNvSpPr txBox="1"/>
          <p:nvPr/>
        </p:nvSpPr>
        <p:spPr>
          <a:xfrm>
            <a:off x="561669" y="1555750"/>
            <a:ext cx="3717290" cy="2030730"/>
          </a:xfrm>
          <a:prstGeom prst="rect">
            <a:avLst/>
          </a:prstGeom>
          <a:noFill/>
        </p:spPr>
        <p:txBody>
          <a:bodyPr wrap="square" lIns="90000" tIns="46800" rIns="90000" bIns="4680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spc="300" dirty="0">
                <a:solidFill>
                  <a:srgbClr val="48599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基于</a:t>
            </a:r>
            <a:r>
              <a:rPr lang="en-US" altLang="zh-CN" sz="2000" b="1" spc="300" dirty="0">
                <a:solidFill>
                  <a:srgbClr val="48599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YOLO</a:t>
            </a:r>
            <a:r>
              <a:rPr lang="en-US" sz="2000" b="1" spc="300" dirty="0">
                <a:solidFill>
                  <a:srgbClr val="48599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v8</a:t>
            </a:r>
          </a:p>
          <a:p>
            <a:pPr>
              <a:lnSpc>
                <a:spcPct val="120000"/>
              </a:lnSpc>
            </a:pPr>
            <a:r>
              <a:rPr lang="zh-CN" altLang="en-US" sz="2000" spc="150" dirty="0">
                <a:solidFill>
                  <a:schemeClr val="dk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在质量轻的基础上实现实时盲道检测</a:t>
            </a:r>
            <a:r>
              <a:rPr lang="en-US" altLang="zh-CN" sz="2000" spc="150" dirty="0">
                <a:solidFill>
                  <a:schemeClr val="dk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，</a:t>
            </a:r>
            <a:r>
              <a:rPr lang="zh-CN" altLang="en-US" sz="2000" spc="150" dirty="0">
                <a:solidFill>
                  <a:schemeClr val="dk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扩大检测范围</a:t>
            </a:r>
            <a:r>
              <a:rPr lang="en-US" altLang="zh-CN" sz="2000" spc="150" dirty="0">
                <a:solidFill>
                  <a:schemeClr val="dk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。</a:t>
            </a:r>
            <a:r>
              <a:rPr lang="zh-CN" altLang="en-US" sz="2000" spc="150" dirty="0">
                <a:solidFill>
                  <a:schemeClr val="dk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减少事故发生率</a:t>
            </a:r>
            <a:r>
              <a:rPr lang="en-US" altLang="zh-CN" sz="2000" spc="150" dirty="0">
                <a:solidFill>
                  <a:schemeClr val="dk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，</a:t>
            </a:r>
            <a:r>
              <a:rPr lang="zh-CN" altLang="en-US" sz="2000" spc="150" dirty="0">
                <a:solidFill>
                  <a:schemeClr val="dk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完善探测全面性</a:t>
            </a:r>
            <a:r>
              <a:rPr lang="en-US" altLang="zh-CN" sz="2000" spc="150" dirty="0">
                <a:solidFill>
                  <a:schemeClr val="dk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。</a:t>
            </a:r>
          </a:p>
        </p:txBody>
      </p:sp>
      <p:sp>
        <p:nvSpPr>
          <p:cNvPr id="74" name="文本框 16">
            <a:extLst>
              <a:ext uri="{FF2B5EF4-FFF2-40B4-BE49-F238E27FC236}">
                <a16:creationId xmlns:a16="http://schemas.microsoft.com/office/drawing/2014/main" id="{20355EF3-9BF8-7B59-5BA2-95BC9F5F5BFD}"/>
              </a:ext>
            </a:extLst>
          </p:cNvPr>
          <p:cNvSpPr txBox="1"/>
          <p:nvPr/>
        </p:nvSpPr>
        <p:spPr>
          <a:xfrm>
            <a:off x="7649072" y="4003981"/>
            <a:ext cx="2016000" cy="440121"/>
          </a:xfrm>
          <a:prstGeom prst="rect">
            <a:avLst/>
          </a:prstGeom>
          <a:solidFill>
            <a:schemeClr val="accent2"/>
          </a:solidFill>
        </p:spPr>
        <p:txBody>
          <a:bodyPr wrap="square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spc="300" dirty="0">
                <a:solidFill>
                  <a:schemeClr val="lt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联络及时性</a:t>
            </a:r>
          </a:p>
        </p:txBody>
      </p:sp>
      <p:sp>
        <p:nvSpPr>
          <p:cNvPr id="75" name="文本框 19">
            <a:extLst>
              <a:ext uri="{FF2B5EF4-FFF2-40B4-BE49-F238E27FC236}">
                <a16:creationId xmlns:a16="http://schemas.microsoft.com/office/drawing/2014/main" id="{F452C3E3-B78A-1470-02AF-8F37950C0BEA}"/>
              </a:ext>
            </a:extLst>
          </p:cNvPr>
          <p:cNvSpPr txBox="1"/>
          <p:nvPr/>
        </p:nvSpPr>
        <p:spPr>
          <a:xfrm>
            <a:off x="1082689" y="4378790"/>
            <a:ext cx="3635510" cy="2291813"/>
          </a:xfrm>
          <a:prstGeom prst="rect">
            <a:avLst/>
          </a:prstGeom>
          <a:noFill/>
        </p:spPr>
        <p:txBody>
          <a:bodyPr wrap="square" lIns="90000" tIns="46800" rIns="90000" bIns="4680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spc="300" dirty="0">
                <a:solidFill>
                  <a:srgbClr val="1D54A6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自然语言生成</a:t>
            </a:r>
            <a:r>
              <a:rPr lang="en-US" altLang="zh-CN" sz="2000" b="1" spc="300" dirty="0">
                <a:solidFill>
                  <a:srgbClr val="1D54A6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+</a:t>
            </a:r>
            <a:r>
              <a:rPr lang="zh-CN" altLang="en-US" sz="2000" b="1" spc="300" dirty="0">
                <a:solidFill>
                  <a:srgbClr val="1D54A6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语音引擎</a:t>
            </a:r>
            <a:br>
              <a:rPr lang="zh-CN" altLang="en-US" sz="2000" b="1" spc="300" dirty="0">
                <a:solidFill>
                  <a:schemeClr val="accent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</a:br>
            <a:r>
              <a:rPr lang="zh-CN" altLang="en-US" sz="2000" spc="300" dirty="0">
                <a:solidFill>
                  <a:schemeClr val="tx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实时进行语言反馈</a:t>
            </a:r>
            <a:r>
              <a:rPr lang="zh-CN" altLang="en-US" sz="2000" spc="300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。</a:t>
            </a:r>
            <a:r>
              <a:rPr lang="zh-CN" altLang="en-US" sz="2000" spc="300" dirty="0">
                <a:solidFill>
                  <a:schemeClr val="tx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语言模型基于本地</a:t>
            </a:r>
            <a:r>
              <a:rPr lang="zh-CN" altLang="en-US" sz="2000" spc="300" dirty="0"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部署，简洁快速，</a:t>
            </a:r>
            <a:r>
              <a:rPr lang="zh-CN" altLang="en-US" sz="2000" spc="300" dirty="0">
                <a:solidFill>
                  <a:schemeClr val="tx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并支持个性化播报。</a:t>
            </a:r>
          </a:p>
        </p:txBody>
      </p:sp>
      <p:sp>
        <p:nvSpPr>
          <p:cNvPr id="76" name="文本框 21">
            <a:extLst>
              <a:ext uri="{FF2B5EF4-FFF2-40B4-BE49-F238E27FC236}">
                <a16:creationId xmlns:a16="http://schemas.microsoft.com/office/drawing/2014/main" id="{82EFF5DF-FC55-329F-2EC7-0E971A4DC358}"/>
              </a:ext>
            </a:extLst>
          </p:cNvPr>
          <p:cNvSpPr txBox="1"/>
          <p:nvPr/>
        </p:nvSpPr>
        <p:spPr>
          <a:xfrm>
            <a:off x="8564733" y="1187450"/>
            <a:ext cx="3627267" cy="1496695"/>
          </a:xfrm>
          <a:prstGeom prst="rect">
            <a:avLst/>
          </a:prstGeom>
          <a:noFill/>
        </p:spPr>
        <p:txBody>
          <a:bodyPr wrap="square" lIns="90000" tIns="46800" rIns="90000" bIns="4680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spc="300" dirty="0">
                <a:solidFill>
                  <a:srgbClr val="1D54A6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基于百度地图</a:t>
            </a:r>
            <a:r>
              <a:rPr lang="en-US" altLang="zh-CN" sz="2000" b="1" spc="300" dirty="0">
                <a:solidFill>
                  <a:srgbClr val="1D54A6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ea"/>
                <a:sym typeface="Arial" panose="020B0704020202020204" pitchFamily="34" charset="0"/>
              </a:rPr>
              <a:t>MCP</a:t>
            </a:r>
          </a:p>
          <a:p>
            <a:pPr>
              <a:lnSpc>
                <a:spcPct val="120000"/>
              </a:lnSpc>
            </a:pPr>
            <a:r>
              <a:rPr lang="zh-CN" altLang="en-US" sz="2000" spc="150" dirty="0"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选定起点与终点，可基于</a:t>
            </a:r>
            <a:r>
              <a:rPr lang="en-US" altLang="zh-CN" sz="2000" spc="150" dirty="0" err="1"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ReAct</a:t>
            </a:r>
            <a:r>
              <a:rPr lang="zh-CN" altLang="en-US" sz="2000" spc="150" dirty="0"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迭代式</a:t>
            </a:r>
            <a:r>
              <a:rPr lang="en-US" altLang="zh-CN" sz="2000" spc="150" dirty="0"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Agent</a:t>
            </a:r>
            <a:r>
              <a:rPr lang="zh-CN" altLang="en-US" sz="2000" spc="150" dirty="0">
                <a:latin typeface="Noto Sans SC Medium" panose="020B0200000000000000" pitchFamily="34" charset="-122"/>
                <a:ea typeface="Noto Sans SC Medium" panose="020B0200000000000000" pitchFamily="34" charset="-122"/>
                <a:sym typeface="Arial" panose="020B0704020202020204" pitchFamily="34" charset="0"/>
              </a:rPr>
              <a:t>实现自然语言播报式导航功能，有效、准确、快速赋能视障人士出行。</a:t>
            </a:r>
            <a:endParaRPr lang="en-US" altLang="zh-CN" sz="2000" spc="150" dirty="0">
              <a:latin typeface="Noto Sans SC Medium" panose="020B0200000000000000" pitchFamily="34" charset="-122"/>
              <a:ea typeface="Noto Sans SC Medium" panose="020B0200000000000000" pitchFamily="34" charset="-122"/>
              <a:sym typeface="Arial" panose="020B0704020202020204" pitchFamily="34" charset="0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1739B0AA-B859-9067-667E-2E370ADFD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230" y="2684145"/>
            <a:ext cx="1375410" cy="169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6B3A0-9AB1-EEE9-16B8-610ECB31A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8FB9E3BF-67F3-8943-CC53-ECB50A607505}"/>
              </a:ext>
            </a:extLst>
          </p:cNvPr>
          <p:cNvSpPr txBox="1"/>
          <p:nvPr/>
        </p:nvSpPr>
        <p:spPr>
          <a:xfrm>
            <a:off x="3242241" y="2836183"/>
            <a:ext cx="5707518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100" b="1" spc="0" baseline="0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微软雅黑" panose="020B0503020204020204" charset="-122"/>
                <a:rtl val="0"/>
              </a:rPr>
              <a:t>现场演示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D7303F9-5745-D6F4-A0A9-867067C14C69}"/>
              </a:ext>
            </a:extLst>
          </p:cNvPr>
          <p:cNvSpPr txBox="1"/>
          <p:nvPr/>
        </p:nvSpPr>
        <p:spPr>
          <a:xfrm>
            <a:off x="3529067" y="3867234"/>
            <a:ext cx="5133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i="1" spc="0" baseline="0" dirty="0">
                <a:solidFill>
                  <a:srgbClr val="FFFFFF"/>
                </a:solidFill>
                <a:latin typeface="Aptos Display" panose="020B0004020202020204" pitchFamily="34" charset="0"/>
                <a:ea typeface="Noto Sans SC Medium" panose="020B0200000000000000" pitchFamily="34" charset="-122"/>
                <a:cs typeface="Arial" panose="020B0604020202090204"/>
                <a:sym typeface="Arial" panose="020B0604020202090204"/>
                <a:rtl val="0"/>
              </a:rPr>
              <a:t>Live Demo</a:t>
            </a:r>
            <a:endParaRPr lang="zh-CN" altLang="en-US" sz="4400" i="1" spc="0" baseline="0" dirty="0">
              <a:solidFill>
                <a:srgbClr val="FFFFFF"/>
              </a:solidFill>
              <a:latin typeface="Aptos Display" panose="020B0004020202020204" pitchFamily="34" charset="0"/>
              <a:ea typeface="Noto Sans SC Medium" panose="020B0200000000000000" pitchFamily="34" charset="-122"/>
              <a:cs typeface="Arial" panose="020B0604020202090204"/>
              <a:sym typeface="微软雅黑" panose="020B0503020204020204" charset="-122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1423488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676B2-7612-09D9-8881-4DB5FD6E0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BFE1704E-DA57-D980-18E0-F3E323DE02E6}"/>
              </a:ext>
            </a:extLst>
          </p:cNvPr>
          <p:cNvSpPr txBox="1"/>
          <p:nvPr/>
        </p:nvSpPr>
        <p:spPr>
          <a:xfrm>
            <a:off x="3242241" y="2836183"/>
            <a:ext cx="5707518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100" b="1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微软雅黑" panose="020B0503020204020204" charset="-122"/>
                <a:rtl val="0"/>
              </a:rPr>
              <a:t>技术架构</a:t>
            </a:r>
            <a:endParaRPr lang="zh-CN" altLang="en-US" sz="6100" b="1" spc="0" baseline="0" dirty="0">
              <a:solidFill>
                <a:srgbClr val="FFFFFF"/>
              </a:solidFill>
              <a:latin typeface="Noto Sans SC Medium" panose="020B0200000000000000" pitchFamily="34" charset="-122"/>
              <a:ea typeface="Noto Sans SC Medium" panose="020B0200000000000000" pitchFamily="34" charset="-122"/>
              <a:sym typeface="微软雅黑" panose="020B0503020204020204" charset="-122"/>
              <a:rtl val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879526C-4DC1-25FC-9AD4-EB0066D9A1F3}"/>
              </a:ext>
            </a:extLst>
          </p:cNvPr>
          <p:cNvSpPr txBox="1"/>
          <p:nvPr/>
        </p:nvSpPr>
        <p:spPr>
          <a:xfrm>
            <a:off x="3529067" y="3867234"/>
            <a:ext cx="5133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i="1" spc="0" baseline="0" dirty="0">
                <a:solidFill>
                  <a:srgbClr val="FFFFFF"/>
                </a:solidFill>
                <a:latin typeface="Aptos Display" panose="020B0004020202020204" pitchFamily="34" charset="0"/>
                <a:ea typeface="Noto Sans SC Medium" panose="020B0200000000000000" pitchFamily="34" charset="-122"/>
                <a:cs typeface="Arial" panose="020B0604020202090204"/>
                <a:sym typeface="Arial" panose="020B0604020202090204"/>
                <a:rtl val="0"/>
              </a:rPr>
              <a:t>Tech Architecture</a:t>
            </a:r>
            <a:endParaRPr lang="zh-CN" altLang="en-US" sz="4400" i="1" spc="0" baseline="0" dirty="0">
              <a:solidFill>
                <a:srgbClr val="FFFFFF"/>
              </a:solidFill>
              <a:latin typeface="Aptos Display" panose="020B0004020202020204" pitchFamily="34" charset="0"/>
              <a:ea typeface="Noto Sans SC Medium" panose="020B0200000000000000" pitchFamily="34" charset="-122"/>
              <a:cs typeface="Arial" panose="020B0604020202090204"/>
              <a:sym typeface="微软雅黑" panose="020B0503020204020204" charset="-122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604029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, Teams&#10;&#10;AI 生成的内容可能不正确。">
            <a:extLst>
              <a:ext uri="{FF2B5EF4-FFF2-40B4-BE49-F238E27FC236}">
                <a16:creationId xmlns:a16="http://schemas.microsoft.com/office/drawing/2014/main" id="{158F0973-BA14-BB6E-19F9-0444ECAFD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6123"/>
            <a:ext cx="12192000" cy="611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7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B46693D5-5476-C17E-CC43-C3E89A7B3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154" y="928078"/>
            <a:ext cx="9897691" cy="615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68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C8F53C37-3D4B-57A1-4034-41908714C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27" y="2470234"/>
            <a:ext cx="2269242" cy="2289325"/>
          </a:xfrm>
          <a:prstGeom prst="rect">
            <a:avLst/>
          </a:prstGeom>
        </p:spPr>
      </p:pic>
      <p:sp>
        <p:nvSpPr>
          <p:cNvPr id="4" name="TextBox 68">
            <a:extLst>
              <a:ext uri="{FF2B5EF4-FFF2-40B4-BE49-F238E27FC236}">
                <a16:creationId xmlns:a16="http://schemas.microsoft.com/office/drawing/2014/main" id="{B2A4D575-D7E4-B7F5-AA57-501995E7EE3D}"/>
              </a:ext>
            </a:extLst>
          </p:cNvPr>
          <p:cNvSpPr txBox="1"/>
          <p:nvPr/>
        </p:nvSpPr>
        <p:spPr>
          <a:xfrm>
            <a:off x="897769" y="4909451"/>
            <a:ext cx="1446811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0" tIns="0" rIns="0" bIns="0" numCol="1" spcCol="38100" rtlCol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Noto Sans SC Black" panose="020B0200000000000000" pitchFamily="34" charset="-122"/>
                <a:ea typeface="Noto Sans SC Black" panose="020B0200000000000000" pitchFamily="34" charset="-122"/>
                <a:sym typeface="Helvetica Neue"/>
              </a:rPr>
              <a:t>智能手杖</a:t>
            </a:r>
            <a:endParaRPr kumimoji="0" lang="en-US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Noto Sans SC Black" panose="020B0200000000000000" pitchFamily="34" charset="-122"/>
              <a:ea typeface="Noto Sans SC Black" panose="020B0200000000000000" pitchFamily="34" charset="-122"/>
              <a:sym typeface="Helvetica Neue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2CE2A1-5FDB-6A26-B75B-FA36E0673A65}"/>
              </a:ext>
            </a:extLst>
          </p:cNvPr>
          <p:cNvSpPr txBox="1"/>
          <p:nvPr/>
        </p:nvSpPr>
        <p:spPr>
          <a:xfrm>
            <a:off x="0" y="5336342"/>
            <a:ext cx="3242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sz="1800" kern="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90204"/>
                <a:sym typeface="Arial" panose="020B0604020202090204"/>
              </a:rPr>
              <a:t>树莓派</a:t>
            </a:r>
            <a:r>
              <a:rPr lang="en-US" altLang="zh-CN" sz="1800" kern="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90204"/>
                <a:sym typeface="Arial" panose="020B0604020202090204"/>
              </a:rPr>
              <a:t>5B</a:t>
            </a:r>
            <a:endParaRPr lang="en-US" altLang="zh-CN" kern="0" dirty="0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Arial" panose="020B0604020202090204"/>
              <a:sym typeface="Arial" panose="020B0604020202090204"/>
            </a:endParaRPr>
          </a:p>
          <a:p>
            <a:pPr algn="ctr"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sz="1800" kern="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90204"/>
                <a:sym typeface="Arial" panose="020B0604020202090204"/>
              </a:rPr>
              <a:t>本地推理，本地反馈</a:t>
            </a:r>
            <a:endParaRPr lang="en-US" altLang="zh-CN" sz="1800" kern="0" dirty="0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0" name="图片 9" descr="图标&#10;&#10;AI 生成的内容可能不正确。">
            <a:extLst>
              <a:ext uri="{FF2B5EF4-FFF2-40B4-BE49-F238E27FC236}">
                <a16:creationId xmlns:a16="http://schemas.microsoft.com/office/drawing/2014/main" id="{DE7826B7-933A-ADF9-378E-8C994028D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750" y="1300381"/>
            <a:ext cx="1336599" cy="1475641"/>
          </a:xfrm>
          <a:prstGeom prst="rect">
            <a:avLst/>
          </a:prstGeom>
        </p:spPr>
      </p:pic>
      <p:sp>
        <p:nvSpPr>
          <p:cNvPr id="11" name="TextBox 69">
            <a:extLst>
              <a:ext uri="{FF2B5EF4-FFF2-40B4-BE49-F238E27FC236}">
                <a16:creationId xmlns:a16="http://schemas.microsoft.com/office/drawing/2014/main" id="{8A4B05D9-92AD-B7EF-63C8-361B8B09479D}"/>
              </a:ext>
            </a:extLst>
          </p:cNvPr>
          <p:cNvSpPr txBox="1"/>
          <p:nvPr/>
        </p:nvSpPr>
        <p:spPr>
          <a:xfrm>
            <a:off x="4575750" y="2901945"/>
            <a:ext cx="1446811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0" tIns="0" rIns="0" bIns="0" numCol="1" spcCol="38100" rtlCol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Noto Sans SC Black" panose="020B0200000000000000" pitchFamily="34" charset="-122"/>
                <a:ea typeface="Noto Sans SC Black" panose="020B0200000000000000" pitchFamily="34" charset="-122"/>
                <a:sym typeface="Helvetica Neue"/>
              </a:rPr>
              <a:t>智能背包</a:t>
            </a:r>
            <a:endParaRPr kumimoji="0" lang="en-US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Noto Sans SC Black" panose="020B0200000000000000" pitchFamily="34" charset="-122"/>
              <a:ea typeface="Noto Sans SC Black" panose="020B0200000000000000" pitchFamily="34" charset="-122"/>
              <a:sym typeface="Helvetica Neue"/>
            </a:endParaRP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9D45A293-E73E-AAFF-1A5F-1BDC9BBE3AF3}"/>
              </a:ext>
            </a:extLst>
          </p:cNvPr>
          <p:cNvSpPr txBox="1"/>
          <p:nvPr/>
        </p:nvSpPr>
        <p:spPr>
          <a:xfrm>
            <a:off x="4280231" y="3304867"/>
            <a:ext cx="2148062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0" tIns="0" rIns="0" bIns="0" numCol="1" spcCol="38100" rtlCol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altLang="zh-CN" kern="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90204"/>
                <a:sym typeface="Helvetica Neue"/>
              </a:rPr>
              <a:t>Intel </a:t>
            </a:r>
            <a:r>
              <a:rPr lang="zh-CN" altLang="en-US" kern="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90204"/>
                <a:sym typeface="Helvetica Neue"/>
              </a:rPr>
              <a:t>酷睿</a:t>
            </a:r>
            <a:r>
              <a:rPr lang="en-US" altLang="zh-CN" kern="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90204"/>
                <a:sym typeface="Helvetica Neue"/>
              </a:rPr>
              <a:t> Ultra </a:t>
            </a:r>
            <a:r>
              <a:rPr lang="zh-CN" altLang="en-US" kern="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90204"/>
                <a:sym typeface="Helvetica Neue"/>
              </a:rPr>
              <a:t>硬件</a:t>
            </a:r>
            <a:r>
              <a:rPr lang="en-US" altLang="zh-CN" kern="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90204"/>
                <a:sym typeface="Helvetica Neue"/>
              </a:rPr>
              <a:t>+OPEA</a:t>
            </a:r>
            <a:r>
              <a:rPr lang="zh-CN" altLang="en-US" kern="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90204"/>
                <a:sym typeface="Helvetica Neue"/>
              </a:rPr>
              <a:t>架构</a:t>
            </a:r>
            <a:endParaRPr lang="en-US" altLang="zh-CN" kern="0" dirty="0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Arial" panose="020B0604020202090204"/>
              <a:sym typeface="Helvetica Neue"/>
            </a:endParaRPr>
          </a:p>
        </p:txBody>
      </p:sp>
      <p:pic>
        <p:nvPicPr>
          <p:cNvPr id="14" name="Graphic 58" descr="Cloud outline">
            <a:extLst>
              <a:ext uri="{FF2B5EF4-FFF2-40B4-BE49-F238E27FC236}">
                <a16:creationId xmlns:a16="http://schemas.microsoft.com/office/drawing/2014/main" id="{EDEBD960-5AEE-58C3-824C-587EB87D8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4486" y="4299245"/>
            <a:ext cx="1289338" cy="1289338"/>
          </a:xfrm>
          <a:prstGeom prst="rect">
            <a:avLst/>
          </a:prstGeom>
        </p:spPr>
      </p:pic>
      <p:pic>
        <p:nvPicPr>
          <p:cNvPr id="16" name="图片 15" descr="电脑萤幕&#10;&#10;AI 生成的内容可能不正确。">
            <a:extLst>
              <a:ext uri="{FF2B5EF4-FFF2-40B4-BE49-F238E27FC236}">
                <a16:creationId xmlns:a16="http://schemas.microsoft.com/office/drawing/2014/main" id="{356C3BF0-FFE8-C703-3ED1-59684748C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2876" y="4693683"/>
            <a:ext cx="1336599" cy="500462"/>
          </a:xfrm>
          <a:prstGeom prst="rect">
            <a:avLst/>
          </a:prstGeom>
        </p:spPr>
      </p:pic>
      <p:pic>
        <p:nvPicPr>
          <p:cNvPr id="19" name="图片 18" descr="电脑萤幕&#10;&#10;AI 生成的内容可能不正确。">
            <a:extLst>
              <a:ext uri="{FF2B5EF4-FFF2-40B4-BE49-F238E27FC236}">
                <a16:creationId xmlns:a16="http://schemas.microsoft.com/office/drawing/2014/main" id="{BAC80460-464A-EC45-7C46-79DAA08E06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2876" y="2451148"/>
            <a:ext cx="1336599" cy="500462"/>
          </a:xfrm>
          <a:prstGeom prst="rect">
            <a:avLst/>
          </a:prstGeom>
        </p:spPr>
      </p:pic>
      <p:sp>
        <p:nvSpPr>
          <p:cNvPr id="20" name="TextBox 67">
            <a:extLst>
              <a:ext uri="{FF2B5EF4-FFF2-40B4-BE49-F238E27FC236}">
                <a16:creationId xmlns:a16="http://schemas.microsoft.com/office/drawing/2014/main" id="{9D6A7859-1F26-BCA3-C7DE-75E2391D57B6}"/>
              </a:ext>
            </a:extLst>
          </p:cNvPr>
          <p:cNvSpPr txBox="1"/>
          <p:nvPr/>
        </p:nvSpPr>
        <p:spPr>
          <a:xfrm>
            <a:off x="4575749" y="5382508"/>
            <a:ext cx="1446811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0" tIns="0" rIns="0" bIns="0" numCol="1" spcCol="38100" rtlCol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Noto Sans SC Black" panose="020B0200000000000000" pitchFamily="34" charset="-122"/>
                <a:ea typeface="Noto Sans SC Black" panose="020B0200000000000000" pitchFamily="34" charset="-122"/>
                <a:sym typeface="Helvetica Neue"/>
              </a:rPr>
              <a:t>公有云</a:t>
            </a:r>
            <a:endParaRPr kumimoji="0" lang="en-US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Noto Sans SC Black" panose="020B0200000000000000" pitchFamily="34" charset="-122"/>
              <a:ea typeface="Noto Sans SC Black" panose="020B0200000000000000" pitchFamily="34" charset="-122"/>
              <a:sym typeface="Helvetica Neue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56FDBD-56AB-25EE-FFCC-8370E4A95950}"/>
              </a:ext>
            </a:extLst>
          </p:cNvPr>
          <p:cNvSpPr txBox="1"/>
          <p:nvPr/>
        </p:nvSpPr>
        <p:spPr>
          <a:xfrm>
            <a:off x="3677978" y="5705797"/>
            <a:ext cx="3242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sz="1800" kern="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90204"/>
                <a:sym typeface="Arial" panose="020B0604020202090204"/>
              </a:rPr>
              <a:t>信息订阅服务</a:t>
            </a:r>
            <a:endParaRPr lang="en-US" altLang="zh-CN" sz="1800" kern="0" dirty="0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Arial" panose="020B0604020202090204"/>
              <a:sym typeface="Arial" panose="020B0604020202090204"/>
            </a:endParaRPr>
          </a:p>
        </p:txBody>
      </p:sp>
      <p:pic>
        <p:nvPicPr>
          <p:cNvPr id="22" name="图片 21" descr="电脑萤幕&#10;&#10;AI 生成的内容可能不正确。">
            <a:extLst>
              <a:ext uri="{FF2B5EF4-FFF2-40B4-BE49-F238E27FC236}">
                <a16:creationId xmlns:a16="http://schemas.microsoft.com/office/drawing/2014/main" id="{F4B1BB52-7E34-217F-6960-62B0BA81BE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93" y="2401483"/>
            <a:ext cx="1336599" cy="500462"/>
          </a:xfrm>
          <a:prstGeom prst="rect">
            <a:avLst/>
          </a:prstGeom>
        </p:spPr>
      </p:pic>
      <p:sp>
        <p:nvSpPr>
          <p:cNvPr id="23" name="Rectangle 75">
            <a:extLst>
              <a:ext uri="{FF2B5EF4-FFF2-40B4-BE49-F238E27FC236}">
                <a16:creationId xmlns:a16="http://schemas.microsoft.com/office/drawing/2014/main" id="{4F1B943C-5489-FEE5-33B6-75B782B0733C}"/>
              </a:ext>
            </a:extLst>
          </p:cNvPr>
          <p:cNvSpPr/>
          <p:nvPr/>
        </p:nvSpPr>
        <p:spPr>
          <a:xfrm>
            <a:off x="8258608" y="2619346"/>
            <a:ext cx="2061984" cy="499063"/>
          </a:xfrm>
          <a:prstGeom prst="rect">
            <a:avLst/>
          </a:prstGeom>
          <a:solidFill>
            <a:srgbClr val="156082">
              <a:lumMod val="60000"/>
              <a:lumOff val="4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8447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One Display Medium" panose="020B0703020203020204" pitchFamily="34" charset="0"/>
                <a:ea typeface="Helvetica Neue Roman"/>
                <a:cs typeface="Helvetica Neue Roman"/>
              </a:rPr>
              <a:t>o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One Display Medium" panose="020B0703020203020204" pitchFamily="34" charset="0"/>
                <a:ea typeface="Helvetica Neue Roman"/>
                <a:cs typeface="Helvetica Neue Roman"/>
              </a:rPr>
              <a:t>neAPI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One Display Medium" panose="020B0703020203020204" pitchFamily="34" charset="0"/>
              <a:ea typeface="Helvetica Neue Roman"/>
              <a:cs typeface="Helvetica Neue Roman"/>
            </a:endParaRPr>
          </a:p>
          <a:p>
            <a:pPr marL="0" marR="0" lvl="0" indent="0" algn="ctr" defTabSz="28447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One Display Medium" panose="020B0703020203020204" pitchFamily="34" charset="0"/>
                <a:ea typeface="Helvetica Neue Roman"/>
                <a:cs typeface="Helvetica Neue Roman"/>
              </a:rPr>
              <a:t>oneDNN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One Display Medium" panose="020B0703020203020204" pitchFamily="34" charset="0"/>
                <a:ea typeface="Helvetica Neue Roman"/>
                <a:cs typeface="Helvetica Neue Roman"/>
              </a:rPr>
              <a:t> / o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One Display Medium" panose="020B0703020203020204" pitchFamily="34" charset="0"/>
                <a:ea typeface="Helvetica Neue Roman"/>
                <a:cs typeface="Helvetica Neue Roman"/>
              </a:rPr>
              <a:t>neCCL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One Display Medium" panose="020B0703020203020204" pitchFamily="34" charset="0"/>
                <a:ea typeface="Helvetica Neue Roman"/>
                <a:cs typeface="Helvetica Neue Roman"/>
              </a:rPr>
              <a:t> / DPC++</a:t>
            </a:r>
          </a:p>
        </p:txBody>
      </p:sp>
      <p:sp>
        <p:nvSpPr>
          <p:cNvPr id="24" name="Rectangle 78">
            <a:extLst>
              <a:ext uri="{FF2B5EF4-FFF2-40B4-BE49-F238E27FC236}">
                <a16:creationId xmlns:a16="http://schemas.microsoft.com/office/drawing/2014/main" id="{6C51AD33-2B51-580D-CECD-1E1576D0A13A}"/>
              </a:ext>
            </a:extLst>
          </p:cNvPr>
          <p:cNvSpPr/>
          <p:nvPr/>
        </p:nvSpPr>
        <p:spPr>
          <a:xfrm>
            <a:off x="8248122" y="3177307"/>
            <a:ext cx="2085721" cy="31333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8447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lOne Display Medium" panose="020B0703020203020204" pitchFamily="34" charset="0"/>
                <a:ea typeface="Helvetica Neue Roman"/>
                <a:cs typeface="Helvetica Neue Roman"/>
              </a:rPr>
              <a:t>OS</a:t>
            </a:r>
          </a:p>
        </p:txBody>
      </p:sp>
      <p:sp>
        <p:nvSpPr>
          <p:cNvPr id="25" name="Rectangle 79">
            <a:extLst>
              <a:ext uri="{FF2B5EF4-FFF2-40B4-BE49-F238E27FC236}">
                <a16:creationId xmlns:a16="http://schemas.microsoft.com/office/drawing/2014/main" id="{53B08CFB-4DC6-95BA-1D13-9558D13B03CC}"/>
              </a:ext>
            </a:extLst>
          </p:cNvPr>
          <p:cNvSpPr/>
          <p:nvPr/>
        </p:nvSpPr>
        <p:spPr>
          <a:xfrm>
            <a:off x="8273846" y="1618844"/>
            <a:ext cx="2061983" cy="293299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8447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IntelOne Display Medium" panose="020B0703020203020204" pitchFamily="34" charset="0"/>
                <a:ea typeface="Helvetica Neue Roman"/>
                <a:cs typeface="Helvetica Neue Roman"/>
              </a:rPr>
              <a:t>LLM  local inference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IntelOne Display Medium" panose="020B0703020203020204" pitchFamily="34" charset="0"/>
              <a:ea typeface="Helvetica Neue Roman"/>
              <a:cs typeface="Helvetica Neue Roman"/>
            </a:endParaRPr>
          </a:p>
        </p:txBody>
      </p:sp>
      <p:sp>
        <p:nvSpPr>
          <p:cNvPr id="26" name="Rectangle 80">
            <a:extLst>
              <a:ext uri="{FF2B5EF4-FFF2-40B4-BE49-F238E27FC236}">
                <a16:creationId xmlns:a16="http://schemas.microsoft.com/office/drawing/2014/main" id="{AD5CD348-F7BC-39E6-E423-818F0EEDF86E}"/>
              </a:ext>
            </a:extLst>
          </p:cNvPr>
          <p:cNvSpPr/>
          <p:nvPr/>
        </p:nvSpPr>
        <p:spPr>
          <a:xfrm>
            <a:off x="8280836" y="1962614"/>
            <a:ext cx="2061983" cy="28365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8447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IntelOne Display Medium" panose="020B0703020203020204" pitchFamily="34" charset="0"/>
                <a:ea typeface="Helvetica Neue Roman"/>
                <a:cs typeface="Helvetica Neue Roman"/>
              </a:rPr>
              <a:t>Ollama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IntelOne Display Medium" panose="020B0703020203020204" pitchFamily="34" charset="0"/>
              <a:ea typeface="Helvetica Neue Roman"/>
              <a:cs typeface="Helvetica Neue Roman"/>
            </a:endParaRPr>
          </a:p>
        </p:txBody>
      </p:sp>
      <p:sp>
        <p:nvSpPr>
          <p:cNvPr id="27" name="Rectangle 81">
            <a:extLst>
              <a:ext uri="{FF2B5EF4-FFF2-40B4-BE49-F238E27FC236}">
                <a16:creationId xmlns:a16="http://schemas.microsoft.com/office/drawing/2014/main" id="{6E3A1318-779F-60ED-CB0C-40E740E495A0}"/>
              </a:ext>
            </a:extLst>
          </p:cNvPr>
          <p:cNvSpPr/>
          <p:nvPr/>
        </p:nvSpPr>
        <p:spPr>
          <a:xfrm>
            <a:off x="8273846" y="2282347"/>
            <a:ext cx="2061983" cy="29329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8447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IntelOne Display Medium" panose="020B0703020203020204" pitchFamily="34" charset="0"/>
                <a:ea typeface="Helvetica Neue Roman"/>
                <a:cs typeface="Helvetica Neue Roman"/>
              </a:rPr>
              <a:t>Llama.CPP on Intel Platform</a:t>
            </a:r>
          </a:p>
        </p:txBody>
      </p:sp>
      <p:sp>
        <p:nvSpPr>
          <p:cNvPr id="28" name="Rectangle 83">
            <a:extLst>
              <a:ext uri="{FF2B5EF4-FFF2-40B4-BE49-F238E27FC236}">
                <a16:creationId xmlns:a16="http://schemas.microsoft.com/office/drawing/2014/main" id="{F2DAB4F1-30A8-FF22-1349-591883673456}"/>
              </a:ext>
            </a:extLst>
          </p:cNvPr>
          <p:cNvSpPr/>
          <p:nvPr/>
        </p:nvSpPr>
        <p:spPr>
          <a:xfrm>
            <a:off x="8257098" y="3545535"/>
            <a:ext cx="2085721" cy="31333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8447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lOne Display Medium" panose="020B0703020203020204" pitchFamily="34" charset="0"/>
                <a:ea typeface="Helvetica Neue Roman"/>
                <a:cs typeface="Helvetica Neue Roman"/>
              </a:rPr>
              <a:t>Intel Core Ultra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lOne Display Medium" panose="020B0703020203020204" pitchFamily="34" charset="0"/>
              <a:ea typeface="Helvetica Neue Roman"/>
              <a:cs typeface="Helvetica Neue Roman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7638192-6E72-B229-7163-B5F75465C5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895" y="4424830"/>
            <a:ext cx="2933864" cy="165029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23DE31C-4347-EBF2-9F1E-33E3AAC8CC91}"/>
              </a:ext>
            </a:extLst>
          </p:cNvPr>
          <p:cNvSpPr txBox="1"/>
          <p:nvPr/>
        </p:nvSpPr>
        <p:spPr>
          <a:xfrm>
            <a:off x="8046720" y="6199632"/>
            <a:ext cx="2296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树莓派</a:t>
            </a:r>
          </a:p>
        </p:txBody>
      </p:sp>
    </p:spTree>
    <p:extLst>
      <p:ext uri="{BB962C8B-B14F-4D97-AF65-F5344CB8AC3E}">
        <p14:creationId xmlns:p14="http://schemas.microsoft.com/office/powerpoint/2010/main" val="2916705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42FE724-0FD6-9106-962D-A9E9B2CAC6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387" y="1810381"/>
            <a:ext cx="8294013" cy="494703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0D07A5F-0541-6155-E68F-28179F1AA3C8}"/>
              </a:ext>
            </a:extLst>
          </p:cNvPr>
          <p:cNvSpPr txBox="1"/>
          <p:nvPr/>
        </p:nvSpPr>
        <p:spPr>
          <a:xfrm>
            <a:off x="3075218" y="1087934"/>
            <a:ext cx="6041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5">
                    <a:lumMod val="50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基于</a:t>
            </a:r>
            <a:r>
              <a:rPr lang="en-US" altLang="zh-CN" sz="3600" b="1" dirty="0">
                <a:solidFill>
                  <a:schemeClr val="accent5">
                    <a:lumMod val="50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3D</a:t>
            </a:r>
            <a:r>
              <a:rPr lang="zh-CN" altLang="en-US" sz="3600" b="1" dirty="0">
                <a:solidFill>
                  <a:schemeClr val="accent5">
                    <a:lumMod val="50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打印实现导盲杖原型</a:t>
            </a:r>
          </a:p>
        </p:txBody>
      </p:sp>
    </p:spTree>
    <p:extLst>
      <p:ext uri="{BB962C8B-B14F-4D97-AF65-F5344CB8AC3E}">
        <p14:creationId xmlns:p14="http://schemas.microsoft.com/office/powerpoint/2010/main" val="353415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08A681-A4E6-119A-9935-32034B5B9A4D}"/>
              </a:ext>
            </a:extLst>
          </p:cNvPr>
          <p:cNvSpPr txBox="1"/>
          <p:nvPr/>
        </p:nvSpPr>
        <p:spPr>
          <a:xfrm>
            <a:off x="1395982" y="2112264"/>
            <a:ext cx="9400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YOLO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（</a:t>
            </a:r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You Only Look Once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，一次性看清）是创新的目标检测方法，它将目标定位和分类步骤合并到单个神经网络模型中。使用</a:t>
            </a:r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YOLO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模型用于目标检测，具有速度快、准确性高、更简单。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88FE75-9592-D2C5-3679-D52FB4F5D474}"/>
              </a:ext>
            </a:extLst>
          </p:cNvPr>
          <p:cNvSpPr txBox="1"/>
          <p:nvPr/>
        </p:nvSpPr>
        <p:spPr>
          <a:xfrm>
            <a:off x="3672411" y="1243543"/>
            <a:ext cx="484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accent5">
                    <a:lumMod val="50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核心技术：</a:t>
            </a:r>
            <a:r>
              <a:rPr lang="en-US" altLang="zh-CN" sz="3600" dirty="0">
                <a:solidFill>
                  <a:schemeClr val="accent5">
                    <a:lumMod val="50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YOLO</a:t>
            </a:r>
            <a:endParaRPr lang="zh-CN" altLang="en-US" sz="3600" dirty="0">
              <a:solidFill>
                <a:schemeClr val="accent5">
                  <a:lumMod val="50000"/>
                </a:schemeClr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5" name="图片 4" descr="电子设备的屏幕&#10;&#10;AI 生成的内容可能不正确。">
            <a:extLst>
              <a:ext uri="{FF2B5EF4-FFF2-40B4-BE49-F238E27FC236}">
                <a16:creationId xmlns:a16="http://schemas.microsoft.com/office/drawing/2014/main" id="{BB1FFB24-CDBC-017B-D2A5-E2BCB57F1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3350317"/>
            <a:ext cx="12192000" cy="338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83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9D823B1-3E17-1A6A-D392-769BFE9D5EE0}"/>
              </a:ext>
            </a:extLst>
          </p:cNvPr>
          <p:cNvSpPr txBox="1"/>
          <p:nvPr/>
        </p:nvSpPr>
        <p:spPr>
          <a:xfrm>
            <a:off x="3469929" y="1158608"/>
            <a:ext cx="5252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accent5">
                    <a:lumMod val="50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从无到有构建盲道数据集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7AC7C5-8DC5-EEC4-07E0-0EFDF446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40" y="2474344"/>
            <a:ext cx="3634193" cy="300040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1597633-8251-384B-41DE-11B17828C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264" y="3139311"/>
            <a:ext cx="3778873" cy="300483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3FFBAB9-FEEF-757B-6382-8D431BC4C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064" y="3789632"/>
            <a:ext cx="5310057" cy="311460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E1C4CDB-2C11-9561-687E-D670600CC5D3}"/>
              </a:ext>
            </a:extLst>
          </p:cNvPr>
          <p:cNvSpPr txBox="1"/>
          <p:nvPr/>
        </p:nvSpPr>
        <p:spPr>
          <a:xfrm>
            <a:off x="642757" y="2000316"/>
            <a:ext cx="3958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实地拍摄收集数据集并增强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D0140A-F099-73C9-42A3-27F1270CA0E5}"/>
              </a:ext>
            </a:extLst>
          </p:cNvPr>
          <p:cNvSpPr txBox="1"/>
          <p:nvPr/>
        </p:nvSpPr>
        <p:spPr>
          <a:xfrm>
            <a:off x="4116919" y="2670248"/>
            <a:ext cx="3958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标注数据集并训练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6D8B54-4A80-56D9-2BE0-48FFBB84DD3F}"/>
              </a:ext>
            </a:extLst>
          </p:cNvPr>
          <p:cNvSpPr txBox="1"/>
          <p:nvPr/>
        </p:nvSpPr>
        <p:spPr>
          <a:xfrm>
            <a:off x="7563804" y="3279806"/>
            <a:ext cx="3958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测试数据集并调参增强</a:t>
            </a:r>
          </a:p>
        </p:txBody>
      </p:sp>
    </p:spTree>
    <p:extLst>
      <p:ext uri="{BB962C8B-B14F-4D97-AF65-F5344CB8AC3E}">
        <p14:creationId xmlns:p14="http://schemas.microsoft.com/office/powerpoint/2010/main" val="92357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4CF7DE4-2A10-A6BB-47AD-B26AC0BFF25F}"/>
              </a:ext>
            </a:extLst>
          </p:cNvPr>
          <p:cNvSpPr txBox="1"/>
          <p:nvPr/>
        </p:nvSpPr>
        <p:spPr>
          <a:xfrm>
            <a:off x="3672411" y="1243543"/>
            <a:ext cx="484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accent5">
                    <a:lumMod val="50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“盲道地图”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7525A7-8B3E-0D35-2E4E-7FF87B4B6A02}"/>
              </a:ext>
            </a:extLst>
          </p:cNvPr>
          <p:cNvSpPr txBox="1"/>
          <p:nvPr/>
        </p:nvSpPr>
        <p:spPr>
          <a:xfrm>
            <a:off x="687322" y="2920686"/>
            <a:ext cx="108173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每次识别盲道都会</a:t>
            </a:r>
            <a:r>
              <a:rPr lang="zh-CN" altLang="en-US" sz="2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自动记录</a:t>
            </a:r>
            <a:r>
              <a:rPr lang="zh-CN" altLang="en-US" sz="24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地理位置与盲道情况；</a:t>
            </a:r>
            <a:endParaRPr lang="en-US" altLang="zh-CN" sz="24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zh-CN" altLang="en-US" sz="24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同时建立一个</a:t>
            </a:r>
            <a:r>
              <a:rPr lang="zh-CN" altLang="en-US" sz="2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众包平台</a:t>
            </a:r>
            <a:r>
              <a:rPr lang="zh-CN" altLang="en-US" sz="24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，让用户和志愿者上传各区域盲道信息，构建覆盖全城市的</a:t>
            </a:r>
            <a:r>
              <a:rPr lang="zh-CN" altLang="en-US" sz="2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“盲道地图”</a:t>
            </a:r>
            <a:r>
              <a:rPr lang="zh-CN" altLang="en-US" sz="24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数据库；</a:t>
            </a:r>
            <a:endParaRPr lang="en-US" altLang="zh-CN" sz="24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zh-CN" altLang="en-US" sz="2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从无到有</a:t>
            </a:r>
            <a:r>
              <a:rPr lang="zh-CN" altLang="en-US" sz="24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，逐步扩充“盲道地图”涉及范围。</a:t>
            </a:r>
          </a:p>
        </p:txBody>
      </p:sp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4198F917-1EF9-29C3-59A3-4FB855760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06" y="4824430"/>
            <a:ext cx="11073384" cy="158005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6804CC3-297C-8BD8-3A07-ABDFB076D003}"/>
              </a:ext>
            </a:extLst>
          </p:cNvPr>
          <p:cNvSpPr txBox="1"/>
          <p:nvPr/>
        </p:nvSpPr>
        <p:spPr>
          <a:xfrm>
            <a:off x="1610866" y="2045758"/>
            <a:ext cx="8823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盲道地图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是在原有地图基础上，精准标注城市人行道盲道的布设路段、走向、类型及破损、中断等现状信息，服务为视障群体及无障碍出行相关。</a:t>
            </a:r>
          </a:p>
        </p:txBody>
      </p:sp>
    </p:spTree>
    <p:extLst>
      <p:ext uri="{BB962C8B-B14F-4D97-AF65-F5344CB8AC3E}">
        <p14:creationId xmlns:p14="http://schemas.microsoft.com/office/powerpoint/2010/main" val="344382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0E54292-1CAD-F5CD-A5A8-64D3B978D6E7}"/>
              </a:ext>
            </a:extLst>
          </p:cNvPr>
          <p:cNvSpPr txBox="1"/>
          <p:nvPr/>
        </p:nvSpPr>
        <p:spPr>
          <a:xfrm>
            <a:off x="3450122" y="1170230"/>
            <a:ext cx="5291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accent5">
                    <a:lumMod val="50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“盲道地图”的意义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FBA7C48-0A0A-4DEF-BABD-D745738AAFF5}"/>
              </a:ext>
            </a:extLst>
          </p:cNvPr>
          <p:cNvGrpSpPr/>
          <p:nvPr/>
        </p:nvGrpSpPr>
        <p:grpSpPr>
          <a:xfrm>
            <a:off x="2734271" y="2007325"/>
            <a:ext cx="7983338" cy="4763591"/>
            <a:chOff x="2050209" y="1523990"/>
            <a:chExt cx="7983338" cy="4763591"/>
          </a:xfrm>
        </p:grpSpPr>
        <p:cxnSp>
          <p:nvCxnSpPr>
            <p:cNvPr id="4" name="Straight Connector 8">
              <a:extLst>
                <a:ext uri="{FF2B5EF4-FFF2-40B4-BE49-F238E27FC236}">
                  <a16:creationId xmlns:a16="http://schemas.microsoft.com/office/drawing/2014/main" id="{E005C904-E096-4D7C-AF36-BF630F599F72}"/>
                </a:ext>
              </a:extLst>
            </p:cNvPr>
            <p:cNvCxnSpPr/>
            <p:nvPr/>
          </p:nvCxnSpPr>
          <p:spPr>
            <a:xfrm rot="5400000">
              <a:off x="3713678" y="3905257"/>
              <a:ext cx="4763591" cy="105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45">
              <a:extLst>
                <a:ext uri="{FF2B5EF4-FFF2-40B4-BE49-F238E27FC236}">
                  <a16:creationId xmlns:a16="http://schemas.microsoft.com/office/drawing/2014/main" id="{1DF6968F-9C2D-47B3-BA0F-25CD107CDAB5}"/>
                </a:ext>
              </a:extLst>
            </p:cNvPr>
            <p:cNvCxnSpPr>
              <a:stCxn id="12" idx="3"/>
              <a:endCxn id="15" idx="1"/>
            </p:cNvCxnSpPr>
            <p:nvPr/>
          </p:nvCxnSpPr>
          <p:spPr>
            <a:xfrm>
              <a:off x="5325000" y="2329102"/>
              <a:ext cx="1533005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52">
              <a:extLst>
                <a:ext uri="{FF2B5EF4-FFF2-40B4-BE49-F238E27FC236}">
                  <a16:creationId xmlns:a16="http://schemas.microsoft.com/office/drawing/2014/main" id="{8CD49D78-DB01-42BC-83F8-58034B055692}"/>
                </a:ext>
              </a:extLst>
            </p:cNvPr>
            <p:cNvSpPr/>
            <p:nvPr/>
          </p:nvSpPr>
          <p:spPr>
            <a:xfrm>
              <a:off x="6038849" y="2277547"/>
              <a:ext cx="114301" cy="1143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"/>
              </a:endParaRP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515B1F9F-29C6-4493-9C7F-542CFF8B1F2A}"/>
                </a:ext>
              </a:extLst>
            </p:cNvPr>
            <p:cNvSpPr/>
            <p:nvPr/>
          </p:nvSpPr>
          <p:spPr>
            <a:xfrm>
              <a:off x="4476739" y="1904991"/>
              <a:ext cx="848261" cy="8482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SC Black" panose="020B0200000000000000" pitchFamily="34" charset="-122"/>
                  <a:ea typeface="Noto Sans SC Black" panose="020B0200000000000000" pitchFamily="34" charset="-122"/>
                  <a:sym typeface=""/>
                </a:rPr>
                <a:t>01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SC Black" panose="020B0200000000000000" pitchFamily="34" charset="-122"/>
                <a:ea typeface="Noto Sans SC Black" panose="020B0200000000000000" pitchFamily="34" charset="-122"/>
                <a:sym typeface=""/>
              </a:endParaRPr>
            </a:p>
          </p:txBody>
        </p:sp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3C08DE75-E92C-4894-801E-0CF1DCA95B91}"/>
                </a:ext>
              </a:extLst>
            </p:cNvPr>
            <p:cNvSpPr/>
            <p:nvPr/>
          </p:nvSpPr>
          <p:spPr>
            <a:xfrm>
              <a:off x="6858005" y="1904991"/>
              <a:ext cx="848261" cy="8482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SC Black" panose="020B0200000000000000" pitchFamily="34" charset="-122"/>
                  <a:ea typeface="Noto Sans SC Black" panose="020B0200000000000000" pitchFamily="34" charset="-122"/>
                  <a:sym typeface=""/>
                </a:rPr>
                <a:t>02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 Black" panose="020B0200000000000000" pitchFamily="34" charset="-122"/>
                <a:ea typeface="Noto Sans SC Black" panose="020B0200000000000000" pitchFamily="34" charset="-122"/>
                <a:sym typeface=""/>
              </a:endParaRPr>
            </a:p>
          </p:txBody>
        </p:sp>
        <p:sp>
          <p:nvSpPr>
            <p:cNvPr id="18" name="Text Box 88">
              <a:extLst>
                <a:ext uri="{FF2B5EF4-FFF2-40B4-BE49-F238E27FC236}">
                  <a16:creationId xmlns:a16="http://schemas.microsoft.com/office/drawing/2014/main" id="{3A34701E-161C-4927-84D8-3DF515C15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6574" y="1904991"/>
              <a:ext cx="205697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社会层面</a:t>
              </a:r>
              <a:endParaRPr lang="en-US" altLang="zh-CN" sz="2400" b="1" dirty="0">
                <a:solidFill>
                  <a:schemeClr val="bg1">
                    <a:lumMod val="6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endParaRP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solidFill>
                    <a:schemeClr val="bg1">
                      <a:lumMod val="6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Social Value</a:t>
              </a:r>
              <a:endParaRPr lang="zh-CN" altLang="en-US" sz="2400" b="1" dirty="0">
                <a:solidFill>
                  <a:schemeClr val="bg1">
                    <a:lumMod val="6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endParaRPr>
            </a:p>
          </p:txBody>
        </p:sp>
        <p:sp>
          <p:nvSpPr>
            <p:cNvPr id="24" name="Text Box 88">
              <a:extLst>
                <a:ext uri="{FF2B5EF4-FFF2-40B4-BE49-F238E27FC236}">
                  <a16:creationId xmlns:a16="http://schemas.microsoft.com/office/drawing/2014/main" id="{B2E50D3E-6ECB-4D0E-B52A-88176B92C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0209" y="1915598"/>
              <a:ext cx="22429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用户层面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Noto Sans SC Black" panose="020B0200000000000000" pitchFamily="34" charset="-122"/>
                <a:ea typeface="Noto Sans SC Black" panose="020B0200000000000000" pitchFamily="34" charset="-122"/>
              </a:endParaRPr>
            </a:p>
            <a:p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User</a:t>
              </a:r>
              <a:r>
                <a:rPr lang="en-US" altLang="zh-CN" sz="2400" b="1" dirty="0">
                  <a:solidFill>
                    <a:schemeClr val="bg1">
                      <a:lumMod val="6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 benefits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Noto Sans SC Black" panose="020B0200000000000000" pitchFamily="34" charset="-122"/>
                <a:ea typeface="Noto Sans SC Black" panose="020B0200000000000000" pitchFamily="34" charset="-122"/>
              </a:endParaRP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FA6C8171-31BC-E709-030C-966304CD8E9C}"/>
              </a:ext>
            </a:extLst>
          </p:cNvPr>
          <p:cNvSpPr txBox="1"/>
          <p:nvPr/>
        </p:nvSpPr>
        <p:spPr>
          <a:xfrm>
            <a:off x="2397030" y="3406394"/>
            <a:ext cx="37445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为导盲杖盲道检测铺路，优先规划盲道路线，使设备盲道识别与方向指引功能切实可用。</a:t>
            </a:r>
            <a:endParaRPr lang="en-US" altLang="zh-CN" sz="20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提前明确盲道转向等关键信息，大幅提升独立出行的安全感。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89509FB-8045-15E8-F623-39CC8EE9D450}"/>
              </a:ext>
            </a:extLst>
          </p:cNvPr>
          <p:cNvSpPr txBox="1"/>
          <p:nvPr/>
        </p:nvSpPr>
        <p:spPr>
          <a:xfrm>
            <a:off x="7592514" y="3421756"/>
            <a:ext cx="37445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填补常规导航无障碍信息空白，切实保障视障群体平等出行权益。</a:t>
            </a:r>
            <a:endParaRPr lang="en-US" altLang="zh-CN" sz="20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为市政部门盲道修缮、规划优化提供精准数据支撑，助力无障碍设施提质。</a:t>
            </a:r>
            <a:endParaRPr lang="en-US" altLang="zh-CN" sz="20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完善无障碍出行生态，彰显城市文明与治理温度。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27DC161F-C4E2-410B-64DF-CD0A85D21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8736" y="2379182"/>
            <a:ext cx="3395766" cy="57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49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FCC40-7299-347A-5D67-7BDC5551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EB83B12B-8028-5313-A54B-A859339D6D03}"/>
              </a:ext>
            </a:extLst>
          </p:cNvPr>
          <p:cNvSpPr txBox="1"/>
          <p:nvPr/>
        </p:nvSpPr>
        <p:spPr>
          <a:xfrm>
            <a:off x="3242241" y="2836183"/>
            <a:ext cx="5707518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100" b="1" dirty="0">
                <a:solidFill>
                  <a:srgbClr val="FFF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sym typeface="微软雅黑" panose="020B0503020204020204" charset="-122"/>
                <a:rtl val="0"/>
              </a:rPr>
              <a:t>项目相关</a:t>
            </a:r>
            <a:endParaRPr lang="zh-CN" altLang="en-US" sz="6100" b="1" spc="0" baseline="0" dirty="0">
              <a:solidFill>
                <a:srgbClr val="FFFFFF"/>
              </a:solidFill>
              <a:latin typeface="Noto Sans SC Medium" panose="020B0200000000000000" pitchFamily="34" charset="-122"/>
              <a:ea typeface="Noto Sans SC Medium" panose="020B0200000000000000" pitchFamily="34" charset="-122"/>
              <a:sym typeface="微软雅黑" panose="020B0503020204020204" charset="-122"/>
              <a:rtl val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C1ACE86-CFEA-AF80-AC77-91BDDA3D8167}"/>
              </a:ext>
            </a:extLst>
          </p:cNvPr>
          <p:cNvSpPr txBox="1"/>
          <p:nvPr/>
        </p:nvSpPr>
        <p:spPr>
          <a:xfrm>
            <a:off x="3529067" y="3867234"/>
            <a:ext cx="5133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i="1" spc="0" baseline="0" dirty="0">
                <a:solidFill>
                  <a:srgbClr val="FFFFFF"/>
                </a:solidFill>
                <a:latin typeface="Aptos Display" panose="020B0004020202020204" pitchFamily="34" charset="0"/>
                <a:ea typeface="Noto Sans SC Medium" panose="020B0200000000000000" pitchFamily="34" charset="-122"/>
                <a:cs typeface="Arial" panose="020B0604020202090204"/>
                <a:sym typeface="Arial" panose="020B0604020202090204"/>
                <a:rtl val="0"/>
              </a:rPr>
              <a:t>More Project-Related </a:t>
            </a:r>
            <a:endParaRPr lang="zh-CN" altLang="en-US" sz="4400" i="1" spc="0" baseline="0" dirty="0">
              <a:solidFill>
                <a:srgbClr val="FFFFFF"/>
              </a:solidFill>
              <a:latin typeface="Aptos Display" panose="020B0004020202020204" pitchFamily="34" charset="0"/>
              <a:ea typeface="Noto Sans SC Medium" panose="020B0200000000000000" pitchFamily="34" charset="-122"/>
              <a:cs typeface="Arial" panose="020B0604020202090204"/>
              <a:sym typeface="微软雅黑" panose="020B0503020204020204" charset="-122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815333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5CA3940-C4C3-4100-B99A-2E50E8D88B47}"/>
              </a:ext>
            </a:extLst>
          </p:cNvPr>
          <p:cNvGrpSpPr/>
          <p:nvPr/>
        </p:nvGrpSpPr>
        <p:grpSpPr>
          <a:xfrm>
            <a:off x="939177" y="1975104"/>
            <a:ext cx="10355292" cy="4029494"/>
            <a:chOff x="636710" y="290787"/>
            <a:chExt cx="11205345" cy="447732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8A2C3BB-2DDC-450E-9B9B-C7145A0A4AFF}"/>
                </a:ext>
              </a:extLst>
            </p:cNvPr>
            <p:cNvGrpSpPr/>
            <p:nvPr/>
          </p:nvGrpSpPr>
          <p:grpSpPr>
            <a:xfrm>
              <a:off x="2507699" y="290787"/>
              <a:ext cx="2869126" cy="219078"/>
              <a:chOff x="839274" y="5236771"/>
              <a:chExt cx="3002282" cy="219078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372217BA-A079-425D-8068-29E981FB9E17}"/>
                  </a:ext>
                </a:extLst>
              </p:cNvPr>
              <p:cNvCxnSpPr/>
              <p:nvPr/>
            </p:nvCxnSpPr>
            <p:spPr>
              <a:xfrm flipH="1">
                <a:off x="1760572" y="5239152"/>
                <a:ext cx="2080984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A9F7B83E-D26E-482B-A204-8CC552E4AF2D}"/>
                  </a:ext>
                </a:extLst>
              </p:cNvPr>
              <p:cNvCxnSpPr/>
              <p:nvPr/>
            </p:nvCxnSpPr>
            <p:spPr>
              <a:xfrm flipH="1">
                <a:off x="839274" y="5239152"/>
                <a:ext cx="673649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2ECD96D9-00CF-453E-ABA4-7A157A84C988}"/>
                  </a:ext>
                </a:extLst>
              </p:cNvPr>
              <p:cNvCxnSpPr/>
              <p:nvPr/>
            </p:nvCxnSpPr>
            <p:spPr>
              <a:xfrm flipH="1">
                <a:off x="1512922" y="5236771"/>
                <a:ext cx="247650" cy="219078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B3D1A3BF-5575-4C38-B27C-E1294D43C09B}"/>
                  </a:ext>
                </a:extLst>
              </p:cNvPr>
              <p:cNvCxnSpPr/>
              <p:nvPr/>
            </p:nvCxnSpPr>
            <p:spPr>
              <a:xfrm flipH="1">
                <a:off x="1512922" y="5236771"/>
                <a:ext cx="0" cy="219078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E533ADF-533B-466B-9B9A-E7B667A340BA}"/>
                </a:ext>
              </a:extLst>
            </p:cNvPr>
            <p:cNvSpPr/>
            <p:nvPr/>
          </p:nvSpPr>
          <p:spPr>
            <a:xfrm>
              <a:off x="2486562" y="1335709"/>
              <a:ext cx="3275655" cy="102594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整体架构设计</a:t>
              </a:r>
            </a:p>
            <a:p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部署配置</a:t>
              </a:r>
            </a:p>
            <a:p>
              <a:r>
                <a: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AI Agent</a:t>
              </a:r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开发</a:t>
              </a:r>
            </a:p>
          </p:txBody>
        </p:sp>
        <p:sp>
          <p:nvSpPr>
            <p:cNvPr id="5" name="Text Box 88">
              <a:extLst>
                <a:ext uri="{FF2B5EF4-FFF2-40B4-BE49-F238E27FC236}">
                  <a16:creationId xmlns:a16="http://schemas.microsoft.com/office/drawing/2014/main" id="{5E851107-8F07-488E-ACCD-624C543B6D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562" y="770272"/>
              <a:ext cx="2198074" cy="581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孙宜飞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Noto Sans SC" panose="020B0200000000000000" pitchFamily="34" charset="-122"/>
                  <a:ea typeface="Noto Sans SC" panose="020B0200000000000000" pitchFamily="34" charset="-122"/>
                </a:rPr>
                <a:t>负责人</a:t>
              </a:r>
              <a:endPara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Noto Sans SC" panose="020B0200000000000000" pitchFamily="34" charset="-122"/>
                <a:ea typeface="Noto Sans SC" panose="020B0200000000000000" pitchFamily="34" charset="-122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88A0114-F076-4089-8DB0-389ABFBDB78F}"/>
                </a:ext>
              </a:extLst>
            </p:cNvPr>
            <p:cNvGrpSpPr/>
            <p:nvPr/>
          </p:nvGrpSpPr>
          <p:grpSpPr>
            <a:xfrm>
              <a:off x="6825699" y="290787"/>
              <a:ext cx="2869126" cy="219078"/>
              <a:chOff x="839274" y="5236771"/>
              <a:chExt cx="3002282" cy="219078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16554A8-039E-4F21-93E9-4B46402677C1}"/>
                  </a:ext>
                </a:extLst>
              </p:cNvPr>
              <p:cNvCxnSpPr/>
              <p:nvPr/>
            </p:nvCxnSpPr>
            <p:spPr>
              <a:xfrm flipH="1">
                <a:off x="1760572" y="5239152"/>
                <a:ext cx="2080984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394A52A-59F7-42A7-A53B-9E119417035B}"/>
                  </a:ext>
                </a:extLst>
              </p:cNvPr>
              <p:cNvCxnSpPr/>
              <p:nvPr/>
            </p:nvCxnSpPr>
            <p:spPr>
              <a:xfrm flipH="1">
                <a:off x="839274" y="5239152"/>
                <a:ext cx="673649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10494990-E80F-4BEE-8D20-7E636550A1DF}"/>
                  </a:ext>
                </a:extLst>
              </p:cNvPr>
              <p:cNvCxnSpPr/>
              <p:nvPr/>
            </p:nvCxnSpPr>
            <p:spPr>
              <a:xfrm flipH="1">
                <a:off x="1512922" y="5236771"/>
                <a:ext cx="247650" cy="219078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2EF1442D-EDD1-42BF-BBC5-C2C20C489107}"/>
                  </a:ext>
                </a:extLst>
              </p:cNvPr>
              <p:cNvCxnSpPr/>
              <p:nvPr/>
            </p:nvCxnSpPr>
            <p:spPr>
              <a:xfrm flipH="1">
                <a:off x="1512922" y="5236771"/>
                <a:ext cx="0" cy="219078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EFD4068-5511-478A-BBEB-F326AF753939}"/>
                </a:ext>
              </a:extLst>
            </p:cNvPr>
            <p:cNvSpPr/>
            <p:nvPr/>
          </p:nvSpPr>
          <p:spPr>
            <a:xfrm>
              <a:off x="6756773" y="1314212"/>
              <a:ext cx="3275650" cy="102594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数据集采集与标注</a:t>
              </a:r>
            </a:p>
            <a:p>
              <a:r>
                <a: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YOLOv8</a:t>
              </a:r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模型训练</a:t>
              </a:r>
            </a:p>
            <a:p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上下文工程设计</a:t>
              </a:r>
            </a:p>
          </p:txBody>
        </p:sp>
        <p:sp>
          <p:nvSpPr>
            <p:cNvPr id="8" name="Text Box 88">
              <a:extLst>
                <a:ext uri="{FF2B5EF4-FFF2-40B4-BE49-F238E27FC236}">
                  <a16:creationId xmlns:a16="http://schemas.microsoft.com/office/drawing/2014/main" id="{04ABF110-65F1-4DF9-8593-32CEC17A5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577" y="752316"/>
              <a:ext cx="2447856" cy="581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2800" b="1" dirty="0">
                  <a:solidFill>
                    <a:schemeClr val="accent5">
                      <a:lumMod val="7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陈星宇</a:t>
              </a:r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Noto Sans SC" panose="020B0200000000000000" pitchFamily="34" charset="-122"/>
                  <a:ea typeface="Noto Sans SC" panose="020B0200000000000000" pitchFamily="34" charset="-122"/>
                </a:rPr>
                <a:t>AI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Noto Sans SC" panose="020B0200000000000000" pitchFamily="34" charset="-122"/>
                  <a:ea typeface="Noto Sans SC" panose="020B0200000000000000" pitchFamily="34" charset="-122"/>
                </a:rPr>
                <a:t>工程师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0DD59B2-76A9-4D91-AB57-524D6CFEDE79}"/>
                </a:ext>
              </a:extLst>
            </p:cNvPr>
            <p:cNvGrpSpPr/>
            <p:nvPr/>
          </p:nvGrpSpPr>
          <p:grpSpPr>
            <a:xfrm>
              <a:off x="675448" y="2777422"/>
              <a:ext cx="2869126" cy="219078"/>
              <a:chOff x="839274" y="5236771"/>
              <a:chExt cx="3002282" cy="219078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4487D2D4-ADB0-4C35-88C4-AC038637ECEC}"/>
                  </a:ext>
                </a:extLst>
              </p:cNvPr>
              <p:cNvCxnSpPr/>
              <p:nvPr/>
            </p:nvCxnSpPr>
            <p:spPr>
              <a:xfrm flipH="1">
                <a:off x="1760572" y="5239152"/>
                <a:ext cx="2080984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312820C0-B9E9-4B3B-AAFD-A47B35EC296C}"/>
                  </a:ext>
                </a:extLst>
              </p:cNvPr>
              <p:cNvCxnSpPr/>
              <p:nvPr/>
            </p:nvCxnSpPr>
            <p:spPr>
              <a:xfrm flipH="1">
                <a:off x="839274" y="5239152"/>
                <a:ext cx="673649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B45E155A-2092-4824-B1E2-C8D121218927}"/>
                  </a:ext>
                </a:extLst>
              </p:cNvPr>
              <p:cNvCxnSpPr/>
              <p:nvPr/>
            </p:nvCxnSpPr>
            <p:spPr>
              <a:xfrm flipH="1">
                <a:off x="1512922" y="5236771"/>
                <a:ext cx="247650" cy="219078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AA64CA90-05FB-4DF5-8933-027BDDC3D4B8}"/>
                  </a:ext>
                </a:extLst>
              </p:cNvPr>
              <p:cNvCxnSpPr/>
              <p:nvPr/>
            </p:nvCxnSpPr>
            <p:spPr>
              <a:xfrm flipH="1">
                <a:off x="1512922" y="5236771"/>
                <a:ext cx="0" cy="219078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F7E374E-451A-4700-A8A6-48F46EC9F656}"/>
                </a:ext>
              </a:extLst>
            </p:cNvPr>
            <p:cNvSpPr/>
            <p:nvPr/>
          </p:nvSpPr>
          <p:spPr>
            <a:xfrm>
              <a:off x="636710" y="3742161"/>
              <a:ext cx="3275661" cy="102594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界面开发</a:t>
              </a:r>
            </a:p>
            <a:p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百度地图</a:t>
              </a:r>
              <a:r>
                <a: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API</a:t>
              </a:r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集成</a:t>
              </a:r>
            </a:p>
            <a:p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无障碍交互设计</a:t>
              </a:r>
            </a:p>
          </p:txBody>
        </p:sp>
        <p:sp>
          <p:nvSpPr>
            <p:cNvPr id="11" name="Text Box 88">
              <a:extLst>
                <a:ext uri="{FF2B5EF4-FFF2-40B4-BE49-F238E27FC236}">
                  <a16:creationId xmlns:a16="http://schemas.microsoft.com/office/drawing/2014/main" id="{8288886F-35E5-4E77-A19C-A3D50288AA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710" y="3205521"/>
              <a:ext cx="2364595" cy="581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2800" b="1" dirty="0">
                  <a:solidFill>
                    <a:schemeClr val="accent5">
                      <a:lumMod val="7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张凯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Noto Sans SC" panose="020B0200000000000000" pitchFamily="34" charset="-122"/>
                  <a:ea typeface="Noto Sans SC" panose="020B0200000000000000" pitchFamily="34" charset="-122"/>
                </a:rPr>
                <a:t>前端开发者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4B898764-5531-4CD3-8DC0-3B1BEEFD2618}"/>
                </a:ext>
              </a:extLst>
            </p:cNvPr>
            <p:cNvGrpSpPr/>
            <p:nvPr/>
          </p:nvGrpSpPr>
          <p:grpSpPr>
            <a:xfrm>
              <a:off x="4619131" y="2777422"/>
              <a:ext cx="2869126" cy="219078"/>
              <a:chOff x="839274" y="5236771"/>
              <a:chExt cx="3002282" cy="219078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9CAB5E85-35CE-4325-8FD5-FC1025C834A2}"/>
                  </a:ext>
                </a:extLst>
              </p:cNvPr>
              <p:cNvCxnSpPr/>
              <p:nvPr/>
            </p:nvCxnSpPr>
            <p:spPr>
              <a:xfrm flipH="1">
                <a:off x="1760572" y="5239152"/>
                <a:ext cx="2080984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2536C15F-4552-48E1-8666-E473B59FE444}"/>
                  </a:ext>
                </a:extLst>
              </p:cNvPr>
              <p:cNvCxnSpPr/>
              <p:nvPr/>
            </p:nvCxnSpPr>
            <p:spPr>
              <a:xfrm flipH="1">
                <a:off x="839274" y="5239152"/>
                <a:ext cx="673649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1D664C5D-9F89-4235-9738-4C88D2B88DCA}"/>
                  </a:ext>
                </a:extLst>
              </p:cNvPr>
              <p:cNvCxnSpPr/>
              <p:nvPr/>
            </p:nvCxnSpPr>
            <p:spPr>
              <a:xfrm flipH="1">
                <a:off x="1512922" y="5236771"/>
                <a:ext cx="247650" cy="219078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3185F7E2-3E91-4CD0-AEAE-01C761EA321F}"/>
                  </a:ext>
                </a:extLst>
              </p:cNvPr>
              <p:cNvCxnSpPr/>
              <p:nvPr/>
            </p:nvCxnSpPr>
            <p:spPr>
              <a:xfrm flipH="1">
                <a:off x="1512922" y="5236771"/>
                <a:ext cx="0" cy="219078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1236A21-07B1-4973-B1BA-D1BA374795F1}"/>
                </a:ext>
              </a:extLst>
            </p:cNvPr>
            <p:cNvSpPr/>
            <p:nvPr/>
          </p:nvSpPr>
          <p:spPr>
            <a:xfrm>
              <a:off x="4527687" y="3696699"/>
              <a:ext cx="3275649" cy="102594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系统集成测试</a:t>
              </a:r>
            </a:p>
            <a:p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文档编写</a:t>
              </a:r>
            </a:p>
            <a:p>
              <a:r>
                <a: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AI</a:t>
              </a:r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架构设计</a:t>
              </a:r>
            </a:p>
          </p:txBody>
        </p:sp>
        <p:sp>
          <p:nvSpPr>
            <p:cNvPr id="14" name="Text Box 88">
              <a:extLst>
                <a:ext uri="{FF2B5EF4-FFF2-40B4-BE49-F238E27FC236}">
                  <a16:creationId xmlns:a16="http://schemas.microsoft.com/office/drawing/2014/main" id="{9D328B04-20CB-42CD-8749-FBB66AD5CD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687" y="3141410"/>
              <a:ext cx="3197199" cy="581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2800" b="1" dirty="0">
                  <a:solidFill>
                    <a:schemeClr val="accent5">
                      <a:lumMod val="7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盛晟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Noto Sans SC" panose="020B0200000000000000" pitchFamily="34" charset="-122"/>
                  <a:ea typeface="Noto Sans SC" panose="020B0200000000000000" pitchFamily="34" charset="-122"/>
                </a:rPr>
                <a:t>集成与测试工程师</a:t>
              </a: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308AFF8-81DE-45A7-B38D-B202249355AE}"/>
                </a:ext>
              </a:extLst>
            </p:cNvPr>
            <p:cNvGrpSpPr/>
            <p:nvPr/>
          </p:nvGrpSpPr>
          <p:grpSpPr>
            <a:xfrm>
              <a:off x="8624848" y="2777422"/>
              <a:ext cx="2869126" cy="219078"/>
              <a:chOff x="839274" y="5236771"/>
              <a:chExt cx="3002282" cy="219078"/>
            </a:xfrm>
          </p:grpSpPr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48820641-6646-41BC-AEC9-1AD61E214AC2}"/>
                  </a:ext>
                </a:extLst>
              </p:cNvPr>
              <p:cNvCxnSpPr/>
              <p:nvPr/>
            </p:nvCxnSpPr>
            <p:spPr>
              <a:xfrm flipH="1">
                <a:off x="1760572" y="5239152"/>
                <a:ext cx="2080984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25916DC1-0A7A-4D98-90E4-2814CF926043}"/>
                  </a:ext>
                </a:extLst>
              </p:cNvPr>
              <p:cNvCxnSpPr/>
              <p:nvPr/>
            </p:nvCxnSpPr>
            <p:spPr>
              <a:xfrm flipH="1">
                <a:off x="839274" y="5239152"/>
                <a:ext cx="673649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9217B6A-643E-41B1-952C-4E91545300BC}"/>
                  </a:ext>
                </a:extLst>
              </p:cNvPr>
              <p:cNvCxnSpPr/>
              <p:nvPr/>
            </p:nvCxnSpPr>
            <p:spPr>
              <a:xfrm flipH="1">
                <a:off x="1512922" y="5236771"/>
                <a:ext cx="247650" cy="219078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BAEF8D5B-192A-45D0-B64A-A0096EA43A39}"/>
                  </a:ext>
                </a:extLst>
              </p:cNvPr>
              <p:cNvCxnSpPr/>
              <p:nvPr/>
            </p:nvCxnSpPr>
            <p:spPr>
              <a:xfrm flipH="1">
                <a:off x="1512922" y="5236771"/>
                <a:ext cx="0" cy="219078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196C732-124F-4957-B3AD-50E19A683B05}"/>
                </a:ext>
              </a:extLst>
            </p:cNvPr>
            <p:cNvSpPr/>
            <p:nvPr/>
          </p:nvSpPr>
          <p:spPr>
            <a:xfrm>
              <a:off x="8566408" y="3615899"/>
              <a:ext cx="3275647" cy="102594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Flask API</a:t>
              </a:r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开发</a:t>
              </a:r>
            </a:p>
            <a:p>
              <a:r>
                <a: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MySQL</a:t>
              </a:r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数据库设计</a:t>
              </a:r>
            </a:p>
            <a:p>
              <a:r>
                <a: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MCP</a:t>
              </a:r>
              <a:r>
                <a:rPr lang="zh-CN" altLang="en-US" dirty="0">
                  <a:latin typeface="Noto Sans SC" panose="020B0200000000000000" pitchFamily="34" charset="-122"/>
                  <a:ea typeface="Noto Sans SC" panose="020B0200000000000000" pitchFamily="34" charset="-122"/>
                </a:rPr>
                <a:t>服务集成</a:t>
              </a:r>
            </a:p>
          </p:txBody>
        </p:sp>
        <p:sp>
          <p:nvSpPr>
            <p:cNvPr id="17" name="Text Box 88">
              <a:extLst>
                <a:ext uri="{FF2B5EF4-FFF2-40B4-BE49-F238E27FC236}">
                  <a16:creationId xmlns:a16="http://schemas.microsoft.com/office/drawing/2014/main" id="{826B709A-3AA0-4BB5-9D26-E6C4618FA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6408" y="3101010"/>
              <a:ext cx="2364595" cy="581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2800" b="1" dirty="0">
                  <a:solidFill>
                    <a:schemeClr val="accent5">
                      <a:lumMod val="7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沈乾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Noto Sans SC" panose="020B0200000000000000" pitchFamily="34" charset="-122"/>
                  <a:ea typeface="Noto Sans SC" panose="020B0200000000000000" pitchFamily="34" charset="-122"/>
                </a:rPr>
                <a:t>后端开发者</a:t>
              </a: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1B5DCB5D-3F47-7271-ACF4-F10C14EB232F}"/>
              </a:ext>
            </a:extLst>
          </p:cNvPr>
          <p:cNvSpPr txBox="1"/>
          <p:nvPr/>
        </p:nvSpPr>
        <p:spPr>
          <a:xfrm>
            <a:off x="3672412" y="1097078"/>
            <a:ext cx="484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i="1" dirty="0">
                <a:solidFill>
                  <a:schemeClr val="accent5">
                    <a:lumMod val="50000"/>
                  </a:schemeClr>
                </a:solidFill>
                <a:latin typeface="Aptos Display" panose="020B0004020202020204" pitchFamily="34" charset="0"/>
              </a:rPr>
              <a:t>TEAM WOW!</a:t>
            </a:r>
            <a:endParaRPr lang="zh-CN" altLang="en-US" sz="3600" b="1" i="1" dirty="0">
              <a:solidFill>
                <a:schemeClr val="accent5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142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6D2E7AC-CCDE-0AD7-D3E1-58A03D1C8C14}"/>
              </a:ext>
            </a:extLst>
          </p:cNvPr>
          <p:cNvSpPr txBox="1"/>
          <p:nvPr/>
        </p:nvSpPr>
        <p:spPr>
          <a:xfrm>
            <a:off x="847344" y="1415642"/>
            <a:ext cx="10917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Aptos Display" panose="020B0004020202020204" pitchFamily="34" charset="0"/>
                <a:hlinkClick r:id="rId2"/>
              </a:rPr>
              <a:t>https://github.com/wink-wink-wink555/blind_navigation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Aptos Display" panose="020B0004020202020204" pitchFamily="34" charset="0"/>
              </a:rPr>
              <a:t> 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图片 3" descr="日程表&#10;&#10;AI 生成的内容可能不正确。">
            <a:extLst>
              <a:ext uri="{FF2B5EF4-FFF2-40B4-BE49-F238E27FC236}">
                <a16:creationId xmlns:a16="http://schemas.microsoft.com/office/drawing/2014/main" id="{ED692393-022E-1C92-A1B9-82D8C00C8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065" y="1938862"/>
            <a:ext cx="7503869" cy="2129477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4D844E50-ABD5-D588-30A0-2BE467C79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027" y="4381390"/>
            <a:ext cx="9813946" cy="21219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4C4259-26D0-A58C-ADC6-0CAFEC23417B}"/>
              </a:ext>
            </a:extLst>
          </p:cNvPr>
          <p:cNvSpPr txBox="1"/>
          <p:nvPr/>
        </p:nvSpPr>
        <p:spPr>
          <a:xfrm>
            <a:off x="3002066" y="1051358"/>
            <a:ext cx="6187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i="1" dirty="0">
                <a:solidFill>
                  <a:schemeClr val="accent5">
                    <a:lumMod val="50000"/>
                  </a:schemeClr>
                </a:solidFill>
                <a:latin typeface="Aptos Display" panose="020B0004020202020204" pitchFamily="34" charset="0"/>
              </a:rPr>
              <a:t>YOU CAN CONTACT US VIA … </a:t>
            </a:r>
            <a:endParaRPr lang="zh-CN" altLang="en-US" sz="3600" b="1" i="1" dirty="0">
              <a:solidFill>
                <a:schemeClr val="accent5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7ED0EF-0038-0408-2238-8F9CB08349EF}"/>
              </a:ext>
            </a:extLst>
          </p:cNvPr>
          <p:cNvSpPr txBox="1"/>
          <p:nvPr/>
        </p:nvSpPr>
        <p:spPr>
          <a:xfrm>
            <a:off x="1168754" y="5318014"/>
            <a:ext cx="5002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Aptos Display" panose="020B0004020202020204" pitchFamily="34" charset="0"/>
              </a:rPr>
              <a:t>Github</a:t>
            </a:r>
            <a:r>
              <a:rPr lang="en-US" altLang="zh-CN" sz="2400" dirty="0">
                <a:latin typeface="Aptos Display" panose="020B0004020202020204" pitchFamily="34" charset="0"/>
              </a:rPr>
              <a:t>: </a:t>
            </a:r>
          </a:p>
          <a:p>
            <a:r>
              <a:rPr lang="en-US" altLang="zh-CN" sz="2400" dirty="0">
                <a:latin typeface="Aptos Display" panose="020B0004020202020204" pitchFamily="34" charset="0"/>
                <a:hlinkClick r:id="rId2"/>
              </a:rPr>
              <a:t>https://github.com/wink-wink-wink555</a:t>
            </a:r>
            <a:r>
              <a:rPr lang="en-US" altLang="zh-CN" sz="2400" dirty="0">
                <a:latin typeface="Aptos Display" panose="020B0004020202020204" pitchFamily="34" charset="0"/>
              </a:rPr>
              <a:t> </a:t>
            </a:r>
            <a:endParaRPr lang="zh-CN" altLang="en-US" sz="2400" dirty="0">
              <a:latin typeface="Aptos Display" panose="020B000402020202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45E8CB0-E716-9232-E3E2-D01C1F041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16" y="5414806"/>
            <a:ext cx="728472" cy="63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E4654F81-94D8-E110-F3E7-47BE2157E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65" y="1754100"/>
            <a:ext cx="5681988" cy="3507503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05D580D-E91C-4089-2265-5DF87DF27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057" y="5186777"/>
            <a:ext cx="1218043" cy="1093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D61B2BE-708F-8064-DADA-5DCAFDADAADB}"/>
              </a:ext>
            </a:extLst>
          </p:cNvPr>
          <p:cNvSpPr txBox="1"/>
          <p:nvPr/>
        </p:nvSpPr>
        <p:spPr>
          <a:xfrm>
            <a:off x="7094600" y="5261603"/>
            <a:ext cx="6187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Aptos Display" panose="020B0004020202020204" pitchFamily="34" charset="0"/>
              </a:rPr>
              <a:t>Linkedin</a:t>
            </a:r>
            <a:r>
              <a:rPr lang="en-US" altLang="zh-CN" sz="2400" dirty="0">
                <a:latin typeface="Aptos Display" panose="020B0004020202020204" pitchFamily="34" charset="0"/>
              </a:rPr>
              <a:t>:</a:t>
            </a:r>
          </a:p>
          <a:p>
            <a:r>
              <a:rPr lang="en-US" altLang="zh-CN" sz="2400" dirty="0">
                <a:latin typeface="Aptos Display" panose="020B0004020202020204" pitchFamily="34" charset="0"/>
                <a:hlinkClick r:id="rId6"/>
              </a:rPr>
              <a:t>https://www.linkedin.com/in/yifei-sun-0bab66341/</a:t>
            </a:r>
            <a:r>
              <a:rPr lang="en-US" altLang="zh-CN" sz="2400" dirty="0">
                <a:latin typeface="Aptos Display" panose="020B0004020202020204" pitchFamily="34" charset="0"/>
              </a:rPr>
              <a:t>  </a:t>
            </a:r>
            <a:endParaRPr lang="zh-CN" altLang="en-US" sz="2400" dirty="0">
              <a:latin typeface="Aptos Display" panose="020B0004020202020204" pitchFamily="34" charset="0"/>
            </a:endParaRPr>
          </a:p>
        </p:txBody>
      </p:sp>
      <p:pic>
        <p:nvPicPr>
          <p:cNvPr id="9" name="图片 8" descr="背景图案&#10;&#10;AI 生成的内容可能不正确。">
            <a:extLst>
              <a:ext uri="{FF2B5EF4-FFF2-40B4-BE49-F238E27FC236}">
                <a16:creationId xmlns:a16="http://schemas.microsoft.com/office/drawing/2014/main" id="{95423D4F-0CBF-BA51-E402-E88846ABF9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602" y="2325347"/>
            <a:ext cx="5558662" cy="236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20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39800" y="2680005"/>
            <a:ext cx="61124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000" b="1" dirty="0">
                <a:solidFill>
                  <a:srgbClr val="FFFF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sym typeface="微软雅黑" panose="020B0503020204020204" charset="-122"/>
                <a:rtl val="0"/>
              </a:rPr>
              <a:t>谢谢大家！</a:t>
            </a:r>
            <a:endParaRPr lang="zh-CN" altLang="en-US" sz="7000" b="1" spc="0" baseline="0" dirty="0">
              <a:solidFill>
                <a:srgbClr val="FFFFFF"/>
              </a:solidFill>
              <a:latin typeface="Noto Sans SC Black" panose="020B0200000000000000" pitchFamily="34" charset="-122"/>
              <a:ea typeface="Noto Sans SC Black" panose="020B0200000000000000" pitchFamily="34" charset="-122"/>
              <a:sym typeface="微软雅黑" panose="020B0503020204020204" charset="-122"/>
              <a:rtl val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sz="6100" b="1" spc="0" baseline="0" dirty="0">
            <a:solidFill>
              <a:srgbClr val="FFFFFF"/>
            </a:solidFill>
            <a:latin typeface="思源黑体 Bold" panose="020B0200000000000000" pitchFamily="34" charset="-122"/>
            <a:ea typeface="思源黑体 Bold" panose="020B0200000000000000" pitchFamily="34" charset="-122"/>
            <a:sym typeface="微软雅黑" panose="020B0503020204020204" charset="-122"/>
            <a:rtl val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693</Words>
  <Application>Microsoft Office PowerPoint</Application>
  <PresentationFormat>宽屏</PresentationFormat>
  <Paragraphs>102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IntelOne Display Medium</vt:lpstr>
      <vt:lpstr>Noto Sans SC</vt:lpstr>
      <vt:lpstr>Noto Sans SC Black</vt:lpstr>
      <vt:lpstr>Noto Sans SC Medium</vt:lpstr>
      <vt:lpstr>等线</vt:lpstr>
      <vt:lpstr>黑体</vt:lpstr>
      <vt:lpstr>微软雅黑</vt:lpstr>
      <vt:lpstr>Aptos Display</vt:lpstr>
      <vt:lpstr>Arial</vt:lpstr>
      <vt:lpstr>Office 主题​​</vt:lpstr>
      <vt:lpstr>自定义设计方案</vt:lpstr>
      <vt:lpstr>2_自定义设计方案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Minimalist 简</dc:creator>
  <cp:lastModifiedBy>Jeffery Sun</cp:lastModifiedBy>
  <cp:revision>47</cp:revision>
  <dcterms:created xsi:type="dcterms:W3CDTF">2025-09-18T09:12:25Z</dcterms:created>
  <dcterms:modified xsi:type="dcterms:W3CDTF">2026-01-15T15:41:57Z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5A49194E02C1C090F9CCCB68C5DEEDEE_43</vt:lpwstr>
  </property>
  <property fmtid="{D5CDD505-2E9C-101B-9397-08002B2CF9AE}" pid="3" name="KSOProductBuildVer">
    <vt:lpwstr>2052-6.2.2.8394</vt:lpwstr>
  </property>
</Properties>
</file>